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/>
    <p:restoredTop sz="94638"/>
  </p:normalViewPr>
  <p:slideViewPr>
    <p:cSldViewPr snapToGrid="0">
      <p:cViewPr varScale="1">
        <p:scale>
          <a:sx n="113" d="100"/>
          <a:sy n="11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project as mobile and wearable computing first. The key claim is not state-of-the-art prediction quality; it is that the full HealthKit to feature to inference path works locally on iPhone.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  <a:p>
            <a:r>
              <a:t>- prediction-sleep/ios_healthkit_demo/README.md</a:t>
            </a:r>
          </a:p>
          <a:p>
            <a:r>
              <a:t>- prediction-sleep/reports/mobile_model_report.json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explain why the presentation is structured around the mobile system. That directly matches the professor guidance about reflecting where the real project effort went.</a:t>
            </a:r>
          </a:p>
          <a:p>
            <a:endParaRPr/>
          </a:p>
          <a:p>
            <a:r>
              <a:t>[Sources]</a:t>
            </a:r>
          </a:p>
          <a:p>
            <a:r>
              <a:t>- prediction-sleep/ios_healthkit_demo/README.md</a:t>
            </a:r>
          </a:p>
          <a:p>
            <a:r>
              <a:t>- latex_report/codexlatex.tex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motivation is not clinical diagnosis. It is everyday readiness prediction from consumer devices under privacy constraints.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the bridge from motivation to implementation. It tells the graders why the talk is heavier on engineering challenges and lessons than on broad model comparisons.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  <a:p>
            <a:r>
              <a:t>- prediction-sleep/ios_healthkit_demo/README.md</a:t>
            </a:r>
          </a:p>
          <a:p>
            <a:r>
              <a:t>- prediction-sleep/reports/mobile_model_report.json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here that the feature vector is created on device. Mention watch-source preference and that night grouping happens in Swift, not in a remote preprocessing service.</a:t>
            </a:r>
          </a:p>
          <a:p>
            <a:endParaRPr/>
          </a:p>
          <a:p>
            <a:r>
              <a:t>[Sources]</a:t>
            </a:r>
          </a:p>
          <a:p>
            <a:r>
              <a:t>- prediction-sleep/ios_healthkit_demo/README.md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technical slide. Walk through the contract fields and then the exact execution order: impute, scale, weighted sum, sigmoid, threshold.</a:t>
            </a:r>
          </a:p>
          <a:p>
            <a:endParaRPr/>
          </a:p>
          <a:p>
            <a:r>
              <a:t>[Sources]</a:t>
            </a:r>
          </a:p>
          <a:p>
            <a:r>
              <a:t>- prediction-sleep/ios_healthkit_demo/README.md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reinforces that the app is instrumented as an edge system. Mention that the UI literally shows feature count, missing features, and local timing.</a:t>
            </a:r>
          </a:p>
          <a:p>
            <a:endParaRPr/>
          </a:p>
          <a:p>
            <a:r>
              <a:t>[Sources]</a:t>
            </a:r>
          </a:p>
          <a:p>
            <a:r>
              <a:t>- prediction-sleep/ios_healthkit_demo/README.md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honest. The point is not a massive benchmark; it is a small but realistic end-to-end system evaluation.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distinction explicit: report-era Random Forest numbers are one context, but the mobile artifact matters more for the edge-computing story.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  <a:p>
            <a:r>
              <a:t>- prediction-sleep/reports/mobile_model_report.json</a:t>
            </a:r>
          </a:p>
          <a:p>
            <a:r>
              <a:t>- prediction-sleep/reports/confusion_matrix.png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matters because the course framing is deployment realism. Mention simulator limits before anyone asks.</a:t>
            </a:r>
          </a:p>
          <a:p>
            <a:endParaRPr/>
          </a:p>
          <a:p>
            <a:r>
              <a:t>[Sources]</a:t>
            </a:r>
          </a:p>
          <a:p>
            <a:r>
              <a:t>- prediction-sleep/ios_healthkit_demo/README.md</a:t>
            </a:r>
          </a:p>
          <a:p>
            <a:r>
              <a:t>- latex_report/codexlatex.tex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stating that this is a mobile systems project with exploratory ML. The next technical step is improving on-device history coverage and robustness, not just swapping models.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  <a:p>
            <a:r>
              <a:t>- prediction-sleep/reports/mobile_model_report.json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only if asked what the model appears to be using. Keep the interpretation cautious.</a:t>
            </a:r>
          </a:p>
          <a:p>
            <a:endParaRPr/>
          </a:p>
          <a:p>
            <a:r>
              <a:t>[Sources]</a:t>
            </a:r>
          </a:p>
          <a:p>
            <a:r>
              <a:t>- prediction-sleep/reports/feature_importance.png</a:t>
            </a:r>
          </a:p>
          <a:p>
            <a:r>
              <a:t>- latex_report/codexlatex.tex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questions come, start by reaffirming the mobile-system framing and then answer the ML part with appropriate caution.</a:t>
            </a:r>
          </a:p>
          <a:p>
            <a:endParaRPr/>
          </a:p>
          <a:p>
            <a:r>
              <a:t>[Sources]</a:t>
            </a:r>
          </a:p>
          <a:p>
            <a:r>
              <a:t>- latex_report/codexlatex.tex</a:t>
            </a:r>
          </a:p>
          <a:p>
            <a:r>
              <a:t>- prediction-sleep/MOBILE_READINESS_MEMORY.md</a:t>
            </a:r>
          </a:p>
          <a:p>
            <a:r>
              <a:t>- prediction-sleep/reports/mobile_model_report.json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ABD7A4-653B-479B-ADD7-BC1C176B3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82AE5E4-DCE3-424A-A0C2-9EA1E023C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E7941B4-D721-4324-ABED-8E76F7CFD4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18F590-4A56-4562-9248-9FFE477653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CAB0D8-217B-4214-A430-27D6CCF5569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8051FE-6CC4-4C5A-85C3-1731C1605164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31639" y="4171950"/>
            <a:ext cx="3482023" cy="209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43850" y="1717180"/>
            <a:ext cx="4248150" cy="40522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81050" y="5700117"/>
            <a:ext cx="1428750" cy="4869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1EFB83-CFFA-47FD-B161-15E07A8B0FF0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 / 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8ED9F1-7DBE-4AE4-B76F-0F2E480DE839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76200" cy="4324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F6911-2C7A-4F0D-B210-D476E7AEEDC8}"/>
              </a:ext>
            </a:extLst>
          </p:cNvPr>
          <p:cNvSpPr>
            <a:spLocks noGrp="1"/>
          </p:cNvSpPr>
          <p:nvPr/>
        </p:nvSpPr>
        <p:spPr>
          <a:xfrm>
            <a:off x="876300" y="12001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4F2E"/>
                </a:solidFill>
              </a:defRPr>
            </a:pPr>
            <a:r>
              <a:rPr sz="975" b="1">
                <a:solidFill>
                  <a:srgbClr val="004F2E"/>
                </a:solidFill>
              </a:rPr>
              <a:t>CS655 MOBILE / WEARABLE COMPUTING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4865D-C02E-44EB-B3DD-8FC73CA0DAF9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64770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Next-Day Fatigue Prediction From Apple Watch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C6E4F5-AF00-4187-A8CC-0FC55609B83F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5905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F2F2F"/>
                </a:solidFill>
              </a:defRPr>
            </a:pPr>
            <a:r>
              <a:rPr sz="1500" b="0">
                <a:solidFill>
                  <a:srgbClr val="2F2F2F"/>
                </a:solidFill>
              </a:rPr>
              <a:t>A privacy-preserving iOS system that reads HealthKit data, computes features locally, and runs fatigue inference on device.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C480A0-A2C0-4FB5-A2E6-B420B9A15F98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3810000" cy="800100"/>
          </a:xfrm>
          <a:prstGeom prst="roundRect">
            <a:avLst>
              <a:gd name="adj" fmla="val 9524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C77A3B-8E43-43BD-90F6-24EDDA7D20CC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3352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Main effort: make the mobile path real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4ADF6E-0847-4458-B6AB-53DA9E2BCF25}"/>
              </a:ext>
            </a:extLst>
          </p:cNvPr>
          <p:cNvSpPr>
            <a:spLocks noGrp="1"/>
          </p:cNvSpPr>
          <p:nvPr/>
        </p:nvSpPr>
        <p:spPr>
          <a:xfrm>
            <a:off x="8305800" y="1866900"/>
            <a:ext cx="28575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EB4E1B-37A2-4D9E-A5B3-FA37D7078ED0}"/>
              </a:ext>
            </a:extLst>
          </p:cNvPr>
          <p:cNvSpPr>
            <a:spLocks noGrp="1"/>
          </p:cNvSpPr>
          <p:nvPr/>
        </p:nvSpPr>
        <p:spPr>
          <a:xfrm>
            <a:off x="8305800" y="1866900"/>
            <a:ext cx="2857500" cy="6667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2F0C80-6A24-495E-9445-60A0AAB66F35}"/>
              </a:ext>
            </a:extLst>
          </p:cNvPr>
          <p:cNvSpPr>
            <a:spLocks noGrp="1"/>
          </p:cNvSpPr>
          <p:nvPr/>
        </p:nvSpPr>
        <p:spPr>
          <a:xfrm>
            <a:off x="8515350" y="2095500"/>
            <a:ext cx="2438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359 nights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4C238E-4783-4B27-B933-7B46B06BB3C4}"/>
              </a:ext>
            </a:extLst>
          </p:cNvPr>
          <p:cNvSpPr>
            <a:spLocks noGrp="1"/>
          </p:cNvSpPr>
          <p:nvPr/>
        </p:nvSpPr>
        <p:spPr>
          <a:xfrm>
            <a:off x="8534400" y="2647950"/>
            <a:ext cx="2400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Dataset scale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38ED83-D452-4837-B660-4730A3DDF656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28575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AE262F-53A7-4FFC-AE35-DCD086CD051F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2857500" cy="666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37F337-DC31-4223-852F-7FF379F5C535}"/>
              </a:ext>
            </a:extLst>
          </p:cNvPr>
          <p:cNvSpPr>
            <a:spLocks noGrp="1"/>
          </p:cNvSpPr>
          <p:nvPr/>
        </p:nvSpPr>
        <p:spPr>
          <a:xfrm>
            <a:off x="8515350" y="3505200"/>
            <a:ext cx="2438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On-device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BD7EA2-4C56-4895-9C4A-A21FD3BF4293}"/>
              </a:ext>
            </a:extLst>
          </p:cNvPr>
          <p:cNvSpPr>
            <a:spLocks noGrp="1"/>
          </p:cNvSpPr>
          <p:nvPr/>
        </p:nvSpPr>
        <p:spPr>
          <a:xfrm>
            <a:off x="8534400" y="4057650"/>
            <a:ext cx="2400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Main contribution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978D81B-7E64-4F03-AFEF-DB628F3DFA9A}"/>
              </a:ext>
            </a:extLst>
          </p:cNvPr>
          <p:cNvSpPr>
            <a:spLocks noGrp="1"/>
          </p:cNvSpPr>
          <p:nvPr/>
        </p:nvSpPr>
        <p:spPr>
          <a:xfrm>
            <a:off x="8305800" y="4686300"/>
            <a:ext cx="28575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84E817-AABF-4DF5-B512-3D928188B89E}"/>
              </a:ext>
            </a:extLst>
          </p:cNvPr>
          <p:cNvSpPr>
            <a:spLocks noGrp="1"/>
          </p:cNvSpPr>
          <p:nvPr/>
        </p:nvSpPr>
        <p:spPr>
          <a:xfrm>
            <a:off x="8305800" y="4686300"/>
            <a:ext cx="2857500" cy="66675"/>
          </a:xfrm>
          <a:prstGeom prst="rect">
            <a:avLst/>
          </a:prstGeom>
          <a:solidFill>
            <a:srgbClr val="B387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82C898-64A5-452C-A789-13F8FD098D2A}"/>
              </a:ext>
            </a:extLst>
          </p:cNvPr>
          <p:cNvSpPr>
            <a:spLocks noGrp="1"/>
          </p:cNvSpPr>
          <p:nvPr/>
        </p:nvSpPr>
        <p:spPr>
          <a:xfrm>
            <a:off x="8515350" y="4914900"/>
            <a:ext cx="2438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EF8BB4-2290-4AC5-9092-66EED8F90347}"/>
              </a:ext>
            </a:extLst>
          </p:cNvPr>
          <p:cNvSpPr>
            <a:spLocks noGrp="1"/>
          </p:cNvSpPr>
          <p:nvPr/>
        </p:nvSpPr>
        <p:spPr>
          <a:xfrm>
            <a:off x="8534400" y="5467350"/>
            <a:ext cx="2400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Mobile artifact size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3E575A-CDA5-4890-BB15-F79A9410B4B8}"/>
              </a:ext>
            </a:extLst>
          </p:cNvPr>
          <p:cNvSpPr>
            <a:spLocks noGrp="1"/>
          </p:cNvSpPr>
          <p:nvPr/>
        </p:nvSpPr>
        <p:spPr>
          <a:xfrm>
            <a:off x="2362200" y="58102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66C"/>
                </a:solidFill>
              </a:defRPr>
            </a:pPr>
            <a:r>
              <a:rPr sz="825" b="0">
                <a:solidFill>
                  <a:srgbClr val="5F666C"/>
                </a:solidFill>
              </a:rPr>
              <a:t>Shashikant  |  CS655  |  George Mason University</a:t>
            </a:r>
          </a:p>
        </p:txBody>
      </p:sp>
    </p:spTree>
    <p:extLst>
      <p:ext uri="{BB962C8B-B14F-4D97-AF65-F5344CB8AC3E}">
        <p14:creationId xmlns:p14="http://schemas.microsoft.com/office/powerpoint/2010/main" val="211914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7E9672-5DAD-4908-B2BF-C5247F5A7B09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0F1BB-42B5-4C99-AFBF-87CC570142D9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D96A69-ACD9-45E2-889A-24D4961EB59E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PRESENTATION FOCUS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8F3DF-8D5B-44F7-8E67-3E1DC19B50F3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664C8B-CFE3-4531-8FFD-460B85672192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477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Where The Project Effort Went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4CE1A-557A-4220-9F1A-33A9DE59761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This talk emphasizes system design, implementation, and failure analysis because that is where the main technical work happened.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372BD0-9FF1-4C2C-AAF6-709D73CB98DF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7A136-B59D-4492-BF07-729F421B8CF9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C5F762-3517-4ACF-BC28-8CD886134E9F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F425D-8BE7-421F-94A4-DA03696E1CCE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B58DEE-A23B-4A85-B915-ED226B512121}"/>
              </a:ext>
            </a:extLst>
          </p:cNvPr>
          <p:cNvSpPr>
            <a:spLocks noGrp="1"/>
          </p:cNvSpPr>
          <p:nvPr/>
        </p:nvSpPr>
        <p:spPr>
          <a:xfrm>
            <a:off x="1266825" y="36861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509AA6-11F1-4A8F-81A5-C70D80C471EE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C946E0-DE2F-4A4D-9C64-127279BCBBE5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System integration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248E54-C5E5-4D79-8ADF-64A9F77F5212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Most effort went into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turning noisy HealthKit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into a reliable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nightly feature pipeline on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iPhone.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01B0772-3897-43E9-A33C-C09808762807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DC5743-E653-44E6-A0F8-2B984CD6FE06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1417F5-3FC9-4D81-A73A-1D746CEEC1A8}"/>
              </a:ext>
            </a:extLst>
          </p:cNvPr>
          <p:cNvSpPr>
            <a:spLocks noGrp="1"/>
          </p:cNvSpPr>
          <p:nvPr/>
        </p:nvSpPr>
        <p:spPr>
          <a:xfrm>
            <a:off x="46228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E8225F7-C91C-4556-8C89-A8A242BE55A1}"/>
              </a:ext>
            </a:extLst>
          </p:cNvPr>
          <p:cNvSpPr>
            <a:spLocks noGrp="1"/>
          </p:cNvSpPr>
          <p:nvPr/>
        </p:nvSpPr>
        <p:spPr>
          <a:xfrm>
            <a:off x="4746625" y="36576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D5A6E1-9CED-41ED-B1C2-B76F7EF6DC1B}"/>
              </a:ext>
            </a:extLst>
          </p:cNvPr>
          <p:cNvSpPr>
            <a:spLocks noGrp="1"/>
          </p:cNvSpPr>
          <p:nvPr/>
        </p:nvSpPr>
        <p:spPr>
          <a:xfrm>
            <a:off x="4918075" y="37433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60957F-17D4-4879-8A4C-1498464CAC41}"/>
              </a:ext>
            </a:extLst>
          </p:cNvPr>
          <p:cNvSpPr>
            <a:spLocks noGrp="1"/>
          </p:cNvSpPr>
          <p:nvPr/>
        </p:nvSpPr>
        <p:spPr>
          <a:xfrm>
            <a:off x="4832350" y="37242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4C0DC-6460-4DCC-9906-DDFE5982E562}"/>
              </a:ext>
            </a:extLst>
          </p:cNvPr>
          <p:cNvSpPr>
            <a:spLocks noGrp="1"/>
          </p:cNvSpPr>
          <p:nvPr/>
        </p:nvSpPr>
        <p:spPr>
          <a:xfrm>
            <a:off x="52514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Edge deployment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3C8622-7B07-4184-829F-177B3979B231}"/>
              </a:ext>
            </a:extLst>
          </p:cNvPr>
          <p:cNvSpPr>
            <a:spLocks noGrp="1"/>
          </p:cNvSpPr>
          <p:nvPr/>
        </p:nvSpPr>
        <p:spPr>
          <a:xfrm>
            <a:off x="46418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We had to export a compact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contract, load it in Swift,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verify that the app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computes predictions locally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without Python or cloud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services.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1ECE84-26C6-46D2-9E17-A78D9C2FCD95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1721A6-AE84-41DF-90B8-D859777CB108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489FE6-73A0-4D61-A30B-4428F73ECDBD}"/>
              </a:ext>
            </a:extLst>
          </p:cNvPr>
          <p:cNvSpPr>
            <a:spLocks noGrp="1"/>
          </p:cNvSpPr>
          <p:nvPr/>
        </p:nvSpPr>
        <p:spPr>
          <a:xfrm>
            <a:off x="82169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09239F3-B4B8-465F-A1B3-C37EFA4C5BA2}"/>
              </a:ext>
            </a:extLst>
          </p:cNvPr>
          <p:cNvSpPr>
            <a:spLocks noGrp="1"/>
          </p:cNvSpPr>
          <p:nvPr/>
        </p:nvSpPr>
        <p:spPr>
          <a:xfrm>
            <a:off x="8340725" y="36290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5C104BF-DC4A-4E27-AFFF-F1F9E00EF96E}"/>
              </a:ext>
            </a:extLst>
          </p:cNvPr>
          <p:cNvSpPr>
            <a:spLocks noGrp="1"/>
          </p:cNvSpPr>
          <p:nvPr/>
        </p:nvSpPr>
        <p:spPr>
          <a:xfrm>
            <a:off x="8388350" y="37147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73AFA2-5D61-4580-826E-5431E375CE8B}"/>
              </a:ext>
            </a:extLst>
          </p:cNvPr>
          <p:cNvSpPr>
            <a:spLocks noGrp="1"/>
          </p:cNvSpPr>
          <p:nvPr/>
        </p:nvSpPr>
        <p:spPr>
          <a:xfrm>
            <a:off x="8435975" y="38004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3294F8-2E8C-4AE1-A8C9-A1486F17FD0F}"/>
              </a:ext>
            </a:extLst>
          </p:cNvPr>
          <p:cNvSpPr>
            <a:spLocks noGrp="1"/>
          </p:cNvSpPr>
          <p:nvPr/>
        </p:nvSpPr>
        <p:spPr>
          <a:xfrm>
            <a:off x="88455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Lessons learned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5619B9-B708-45DF-97C6-D4677B23A03B}"/>
              </a:ext>
            </a:extLst>
          </p:cNvPr>
          <p:cNvSpPr>
            <a:spLocks noGrp="1"/>
          </p:cNvSpPr>
          <p:nvPr/>
        </p:nvSpPr>
        <p:spPr>
          <a:xfrm>
            <a:off x="82359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meaningful outcomes are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engineering tradeoffs: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missing data, simulator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limits, feature parity, and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what still blocks stronger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mobile realism.</a:t>
            </a:r>
          </a:p>
        </p:txBody>
      </p:sp>
    </p:spTree>
    <p:extLst>
      <p:ext uri="{BB962C8B-B14F-4D97-AF65-F5344CB8AC3E}">
        <p14:creationId xmlns:p14="http://schemas.microsoft.com/office/powerpoint/2010/main" val="204912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0ECD96-C0F8-49C9-A181-30F12A5F9356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27BDA-FD3D-462D-8E2C-5F32807D10A4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777D4-B350-46B4-A151-AAADB42647C8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840C96-24C0-4668-919C-F22C577D825D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D9B2A1-F09F-4224-A95A-99FAE4CFD857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477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Why This Problem Matters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982EAD-5637-44C8-A5FF-7E2B45EEB11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Wearable sensing is already available; the challenge is turning it into a private, realistic mobile system.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BD663C-B459-4C8E-BCEF-39AD7EA0A8D9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4C0E63-FAB4-4749-84EF-AE3BD86BCEB4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684E0E-B6EC-4FFA-8A0F-CE95920D33BE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74EC8B-D274-4746-BB38-746B6F8CFF9B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E30F68-D7F9-42A6-8528-78D8293B0A02}"/>
              </a:ext>
            </a:extLst>
          </p:cNvPr>
          <p:cNvSpPr>
            <a:spLocks noGrp="1"/>
          </p:cNvSpPr>
          <p:nvPr/>
        </p:nvSpPr>
        <p:spPr>
          <a:xfrm>
            <a:off x="1266825" y="36861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63ED12-184E-42FC-AB5E-F84BA19FD495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86A17C-0990-4EDB-840E-907F5223D1F5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Fatigue affects daily function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3BE37-E8EF-4CA2-9B2C-C550558A702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Attention, reaction time,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productivity are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impacted even when the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signal is subjective and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hard to measure directly.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64DA640-55F1-409F-8D75-69CA77F9C0F3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273C36-1124-4F60-A682-8DB9929A4A77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2FB3AC-4330-4C4D-A059-B9FE4B4CBB14}"/>
              </a:ext>
            </a:extLst>
          </p:cNvPr>
          <p:cNvSpPr>
            <a:spLocks noGrp="1"/>
          </p:cNvSpPr>
          <p:nvPr/>
        </p:nvSpPr>
        <p:spPr>
          <a:xfrm>
            <a:off x="46228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8A1710-83C5-4963-A800-291F42C4F7C8}"/>
              </a:ext>
            </a:extLst>
          </p:cNvPr>
          <p:cNvSpPr>
            <a:spLocks noGrp="1"/>
          </p:cNvSpPr>
          <p:nvPr/>
        </p:nvSpPr>
        <p:spPr>
          <a:xfrm>
            <a:off x="4746625" y="36576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46A58C-D509-4C7C-9DB3-ED9741D5C74A}"/>
              </a:ext>
            </a:extLst>
          </p:cNvPr>
          <p:cNvSpPr>
            <a:spLocks noGrp="1"/>
          </p:cNvSpPr>
          <p:nvPr/>
        </p:nvSpPr>
        <p:spPr>
          <a:xfrm>
            <a:off x="4918075" y="37433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E40723-C5E9-450C-B62F-A3860BA0F575}"/>
              </a:ext>
            </a:extLst>
          </p:cNvPr>
          <p:cNvSpPr>
            <a:spLocks noGrp="1"/>
          </p:cNvSpPr>
          <p:nvPr/>
        </p:nvSpPr>
        <p:spPr>
          <a:xfrm>
            <a:off x="4832350" y="37242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118A40-D33D-4BD9-B3CB-8B750062AF35}"/>
              </a:ext>
            </a:extLst>
          </p:cNvPr>
          <p:cNvSpPr>
            <a:spLocks noGrp="1"/>
          </p:cNvSpPr>
          <p:nvPr/>
        </p:nvSpPr>
        <p:spPr>
          <a:xfrm>
            <a:off x="52514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Wearables already collect the inputs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227BFF-86CB-4357-8F12-80237F4288EC}"/>
              </a:ext>
            </a:extLst>
          </p:cNvPr>
          <p:cNvSpPr>
            <a:spLocks noGrp="1"/>
          </p:cNvSpPr>
          <p:nvPr/>
        </p:nvSpPr>
        <p:spPr>
          <a:xfrm>
            <a:off x="46418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Apple Watch and iPhone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provide sleep, heart rate,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HRV, respiratory rate, and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oxygen saturation.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53A349-D419-4F0F-83C1-32B10419378B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BA084B-DF6C-4829-B097-6A5911A34FDC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D3E5CA-3063-418E-A2F9-C441108AC8FF}"/>
              </a:ext>
            </a:extLst>
          </p:cNvPr>
          <p:cNvSpPr>
            <a:spLocks noGrp="1"/>
          </p:cNvSpPr>
          <p:nvPr/>
        </p:nvSpPr>
        <p:spPr>
          <a:xfrm>
            <a:off x="82169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E2E09CD-C960-4AA6-AD4F-733271C98729}"/>
              </a:ext>
            </a:extLst>
          </p:cNvPr>
          <p:cNvSpPr>
            <a:spLocks noGrp="1"/>
          </p:cNvSpPr>
          <p:nvPr/>
        </p:nvSpPr>
        <p:spPr>
          <a:xfrm>
            <a:off x="8340725" y="36290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A7F9FEC-F1F3-48FA-A1E9-914F3F47EDDF}"/>
              </a:ext>
            </a:extLst>
          </p:cNvPr>
          <p:cNvSpPr>
            <a:spLocks noGrp="1"/>
          </p:cNvSpPr>
          <p:nvPr/>
        </p:nvSpPr>
        <p:spPr>
          <a:xfrm>
            <a:off x="8388350" y="37147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5DBF2CE-7292-4C0C-A0E7-B8050B4515C7}"/>
              </a:ext>
            </a:extLst>
          </p:cNvPr>
          <p:cNvSpPr>
            <a:spLocks noGrp="1"/>
          </p:cNvSpPr>
          <p:nvPr/>
        </p:nvSpPr>
        <p:spPr>
          <a:xfrm>
            <a:off x="8435975" y="38004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F84242-9D62-46B1-BADA-666F9877364C}"/>
              </a:ext>
            </a:extLst>
          </p:cNvPr>
          <p:cNvSpPr>
            <a:spLocks noGrp="1"/>
          </p:cNvSpPr>
          <p:nvPr/>
        </p:nvSpPr>
        <p:spPr>
          <a:xfrm>
            <a:off x="88455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Cloud-first pipelines are a bad default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0CCB48-6E07-4AFD-90FD-EBB59460DB95}"/>
              </a:ext>
            </a:extLst>
          </p:cNvPr>
          <p:cNvSpPr>
            <a:spLocks noGrp="1"/>
          </p:cNvSpPr>
          <p:nvPr/>
        </p:nvSpPr>
        <p:spPr>
          <a:xfrm>
            <a:off x="82359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Sending sensitive health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telemetry to remote servers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adds privacy, stewardship,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latency concerns.</a:t>
            </a:r>
          </a:p>
        </p:txBody>
      </p:sp>
    </p:spTree>
    <p:extLst>
      <p:ext uri="{BB962C8B-B14F-4D97-AF65-F5344CB8AC3E}">
        <p14:creationId xmlns:p14="http://schemas.microsoft.com/office/powerpoint/2010/main" val="143863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CBA347-CAC2-43D6-BA35-F4CFF7FD34C4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A4630-D9AB-47E8-83BD-6D9964C556B0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19C94-EBE2-4E7B-9CFC-AB72C9CC2ED7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ENGINEERING CHALLENGES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AB750-F5A0-476F-9860-8ABE90AD40CC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42AB3A-DE24-4756-92FD-D12BBB869E4F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477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Why This Was Harder Than A Benchmark Project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7E19D8-EB00-4AAF-9C2E-597F17BF947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 main difficulty was not fitting a model once. It was making the full mobile path behave correctly under noisy data and iOS constraints.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77C503-C357-4984-84FA-9133C6EAB8C2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FD567E-95AE-440C-BCCD-83C7737E9D9D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3839EE-7FFB-4654-B099-A91674E1DEE5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878DA-97D2-4BD3-89A4-A5B19042201E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CDBB1E-6E9B-4661-8E83-5F8895F41B89}"/>
              </a:ext>
            </a:extLst>
          </p:cNvPr>
          <p:cNvSpPr>
            <a:spLocks noGrp="1"/>
          </p:cNvSpPr>
          <p:nvPr/>
        </p:nvSpPr>
        <p:spPr>
          <a:xfrm>
            <a:off x="1266825" y="36861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ECBD5-02D5-4C3E-8D19-5680CD4B1914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BABA9E-865B-4685-B52A-432C832E0E74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Health data is messy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83E82-71DF-4C26-8329-F2C386036219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Permissions, partial nights,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missing vitals, and Apple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Watch versus phone source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selection all affect the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live feature pipeline.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AA7AC71-1D7B-4156-9EAC-67CD7A0DC482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EA4973-6EC8-482C-A439-03FC23B0ABB9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1F0F13-4D09-4B15-8D7E-F5C8FF9EEA56}"/>
              </a:ext>
            </a:extLst>
          </p:cNvPr>
          <p:cNvSpPr>
            <a:spLocks noGrp="1"/>
          </p:cNvSpPr>
          <p:nvPr/>
        </p:nvSpPr>
        <p:spPr>
          <a:xfrm>
            <a:off x="46228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5E99E1-DA67-4EAB-A162-9A2C2C29AF3D}"/>
              </a:ext>
            </a:extLst>
          </p:cNvPr>
          <p:cNvSpPr>
            <a:spLocks noGrp="1"/>
          </p:cNvSpPr>
          <p:nvPr/>
        </p:nvSpPr>
        <p:spPr>
          <a:xfrm>
            <a:off x="4746625" y="36576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DB4F67-AF34-44C2-8AEA-59CBB262DCCC}"/>
              </a:ext>
            </a:extLst>
          </p:cNvPr>
          <p:cNvSpPr>
            <a:spLocks noGrp="1"/>
          </p:cNvSpPr>
          <p:nvPr/>
        </p:nvSpPr>
        <p:spPr>
          <a:xfrm>
            <a:off x="4918075" y="37433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ACBF4D-482C-453A-99DF-0C182ED41385}"/>
              </a:ext>
            </a:extLst>
          </p:cNvPr>
          <p:cNvSpPr>
            <a:spLocks noGrp="1"/>
          </p:cNvSpPr>
          <p:nvPr/>
        </p:nvSpPr>
        <p:spPr>
          <a:xfrm>
            <a:off x="4832350" y="37242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2B9491-F535-4632-9D7B-3F518DD085FF}"/>
              </a:ext>
            </a:extLst>
          </p:cNvPr>
          <p:cNvSpPr>
            <a:spLocks noGrp="1"/>
          </p:cNvSpPr>
          <p:nvPr/>
        </p:nvSpPr>
        <p:spPr>
          <a:xfrm>
            <a:off x="52514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Parity matters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C998F2-8114-4FCC-A429-FF001C25C77B}"/>
              </a:ext>
            </a:extLst>
          </p:cNvPr>
          <p:cNvSpPr>
            <a:spLocks noGrp="1"/>
          </p:cNvSpPr>
          <p:nvPr/>
        </p:nvSpPr>
        <p:spPr>
          <a:xfrm>
            <a:off x="46418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mobile app must match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exported contract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exactly for feature order,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imputation, scaling,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coefficients, and threshold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behavior.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26010EF-3611-4355-904C-B6B8FA866C13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26D143-052D-4C67-80A7-AB0EDC9AFC10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027B3C-FF9B-4674-869B-5CEBE7EF3D80}"/>
              </a:ext>
            </a:extLst>
          </p:cNvPr>
          <p:cNvSpPr>
            <a:spLocks noGrp="1"/>
          </p:cNvSpPr>
          <p:nvPr/>
        </p:nvSpPr>
        <p:spPr>
          <a:xfrm>
            <a:off x="82169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DDBA724-B2F2-47CF-8088-254444FC0262}"/>
              </a:ext>
            </a:extLst>
          </p:cNvPr>
          <p:cNvSpPr>
            <a:spLocks noGrp="1"/>
          </p:cNvSpPr>
          <p:nvPr/>
        </p:nvSpPr>
        <p:spPr>
          <a:xfrm>
            <a:off x="8340725" y="36290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2610A02-6FED-471A-A7B9-5154A497DB6A}"/>
              </a:ext>
            </a:extLst>
          </p:cNvPr>
          <p:cNvSpPr>
            <a:spLocks noGrp="1"/>
          </p:cNvSpPr>
          <p:nvPr/>
        </p:nvSpPr>
        <p:spPr>
          <a:xfrm>
            <a:off x="8388350" y="37147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83AA35A-329B-4B87-838D-CA319EBAE8D0}"/>
              </a:ext>
            </a:extLst>
          </p:cNvPr>
          <p:cNvSpPr>
            <a:spLocks noGrp="1"/>
          </p:cNvSpPr>
          <p:nvPr/>
        </p:nvSpPr>
        <p:spPr>
          <a:xfrm>
            <a:off x="8435975" y="38004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FB3462-BF40-4816-BE1B-3AF36EEAFE8B}"/>
              </a:ext>
            </a:extLst>
          </p:cNvPr>
          <p:cNvSpPr>
            <a:spLocks noGrp="1"/>
          </p:cNvSpPr>
          <p:nvPr/>
        </p:nvSpPr>
        <p:spPr>
          <a:xfrm>
            <a:off x="88455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Deployment is real work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57577C-B3EF-4D74-AB4B-F762D9C9E8CC}"/>
              </a:ext>
            </a:extLst>
          </p:cNvPr>
          <p:cNvSpPr>
            <a:spLocks noGrp="1"/>
          </p:cNvSpPr>
          <p:nvPr/>
        </p:nvSpPr>
        <p:spPr>
          <a:xfrm>
            <a:off x="82359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Physical device behavior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differs from the simulator,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some history-dependent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features are locally imputed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when full longitudinal data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86035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95171E-CE07-4F82-B994-692EF540B957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716BB-B898-4B47-A3C3-C4E0CE196EFF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8D0026-914F-4FF4-9F95-E5B43148C557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LOCAL FEATURE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02634-BA39-4573-BD4A-1007472332A4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CAB67-4A32-4E5E-AFA7-603EF17526B7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763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Raw HealthKit Data Becomes A Feature Vector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93012F-C986-4FB9-B113-D111ADC52FD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 live iOS path turns HealthKit samples into a [String: Double] payload before the model runs. This is done in Swift inside HealthKitManager.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30D74B-5215-4D8E-A3D4-7D703A2F88EF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2419350" cy="2171700"/>
          </a:xfrm>
          <a:prstGeom prst="roundRect">
            <a:avLst>
              <a:gd name="adj" fmla="val 350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91D7FA-2DF0-4ED6-89DF-DDB0B9543389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76200" cy="21717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D82795-EC24-4310-99DB-6D7BAE0142C9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6628C0-3D2E-4EC8-880F-9D16330CA55B}"/>
              </a:ext>
            </a:extLst>
          </p:cNvPr>
          <p:cNvSpPr>
            <a:spLocks noGrp="1"/>
          </p:cNvSpPr>
          <p:nvPr/>
        </p:nvSpPr>
        <p:spPr>
          <a:xfrm>
            <a:off x="1143000" y="36480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1F1CD-FD41-4CFF-AC18-04CF5E82BEAD}"/>
              </a:ext>
            </a:extLst>
          </p:cNvPr>
          <p:cNvSpPr>
            <a:spLocks noGrp="1"/>
          </p:cNvSpPr>
          <p:nvPr/>
        </p:nvSpPr>
        <p:spPr>
          <a:xfrm>
            <a:off x="1228725" y="35718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D1FB5E-EBD9-4435-A009-8AF095C28609}"/>
              </a:ext>
            </a:extLst>
          </p:cNvPr>
          <p:cNvSpPr>
            <a:spLocks noGrp="1"/>
          </p:cNvSpPr>
          <p:nvPr/>
        </p:nvSpPr>
        <p:spPr>
          <a:xfrm>
            <a:off x="1314450" y="35052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CED2AD-2147-44F5-BD63-836FA3C833A0}"/>
              </a:ext>
            </a:extLst>
          </p:cNvPr>
          <p:cNvSpPr>
            <a:spLocks noGrp="1"/>
          </p:cNvSpPr>
          <p:nvPr/>
        </p:nvSpPr>
        <p:spPr>
          <a:xfrm>
            <a:off x="1619250" y="33528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Sleep query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07803F-4FB4-4265-AFF4-EC855C61A33C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19621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SleepAnalysis samples are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grouped into nights using a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minus 6 hour shift so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cross-midnight sleep maps to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one night key.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09CA13-A356-4A61-BEA0-49B42F1D524E}"/>
              </a:ext>
            </a:extLst>
          </p:cNvPr>
          <p:cNvSpPr>
            <a:spLocks noGrp="1"/>
          </p:cNvSpPr>
          <p:nvPr/>
        </p:nvSpPr>
        <p:spPr>
          <a:xfrm>
            <a:off x="3219450" y="4133850"/>
            <a:ext cx="133350" cy="5715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9CCEF3-C4CC-4723-9D5B-DD6E4AE3EA93}"/>
              </a:ext>
            </a:extLst>
          </p:cNvPr>
          <p:cNvSpPr>
            <a:spLocks noGrp="1"/>
          </p:cNvSpPr>
          <p:nvPr/>
        </p:nvSpPr>
        <p:spPr>
          <a:xfrm>
            <a:off x="3352800" y="4076700"/>
            <a:ext cx="95250" cy="17145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9E844AE-A131-4912-BEDD-5A2462F00460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2419350" cy="2171700"/>
          </a:xfrm>
          <a:prstGeom prst="roundRect">
            <a:avLst>
              <a:gd name="adj" fmla="val 350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E2AC85-81BF-42A1-A301-45476010E2C0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76200" cy="21717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788CF2-CE32-40C2-B092-03883EB7EF39}"/>
              </a:ext>
            </a:extLst>
          </p:cNvPr>
          <p:cNvSpPr>
            <a:spLocks noGrp="1"/>
          </p:cNvSpPr>
          <p:nvPr/>
        </p:nvSpPr>
        <p:spPr>
          <a:xfrm>
            <a:off x="3581400" y="33718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9C8ED65-76E6-41CD-9453-E4227D4188AD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FD6B758-6F93-4D56-AEB3-5094440FBD35}"/>
              </a:ext>
            </a:extLst>
          </p:cNvPr>
          <p:cNvSpPr>
            <a:spLocks noGrp="1"/>
          </p:cNvSpPr>
          <p:nvPr/>
        </p:nvSpPr>
        <p:spPr>
          <a:xfrm>
            <a:off x="3876675" y="36290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942E4-C653-4F4C-B541-DF007CDBBC45}"/>
              </a:ext>
            </a:extLst>
          </p:cNvPr>
          <p:cNvSpPr>
            <a:spLocks noGrp="1"/>
          </p:cNvSpPr>
          <p:nvPr/>
        </p:nvSpPr>
        <p:spPr>
          <a:xfrm>
            <a:off x="3790950" y="36099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72B60A-F315-4CD3-9516-F1EC0084B5FC}"/>
              </a:ext>
            </a:extLst>
          </p:cNvPr>
          <p:cNvSpPr>
            <a:spLocks noGrp="1"/>
          </p:cNvSpPr>
          <p:nvPr/>
        </p:nvSpPr>
        <p:spPr>
          <a:xfrm>
            <a:off x="4210050" y="33528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Stage aggregation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04FEC-8EAD-4877-BCC2-BE0200BB5530}"/>
              </a:ext>
            </a:extLst>
          </p:cNvPr>
          <p:cNvSpPr>
            <a:spLocks noGrp="1"/>
          </p:cNvSpPr>
          <p:nvPr/>
        </p:nvSpPr>
        <p:spPr>
          <a:xfrm>
            <a:off x="3600450" y="3962400"/>
            <a:ext cx="19621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app computes in-bed,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REM, deep, core, asleep,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total sleep, efficiency, and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sleep-stage percentages from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selected night samples.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FFE359-78CB-46EC-AC0F-D85F6ACAECF5}"/>
              </a:ext>
            </a:extLst>
          </p:cNvPr>
          <p:cNvSpPr>
            <a:spLocks noGrp="1"/>
          </p:cNvSpPr>
          <p:nvPr/>
        </p:nvSpPr>
        <p:spPr>
          <a:xfrm>
            <a:off x="5810250" y="4133850"/>
            <a:ext cx="133350" cy="5715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883A56-48C4-4ECE-B152-889D4AE8D76D}"/>
              </a:ext>
            </a:extLst>
          </p:cNvPr>
          <p:cNvSpPr>
            <a:spLocks noGrp="1"/>
          </p:cNvSpPr>
          <p:nvPr/>
        </p:nvSpPr>
        <p:spPr>
          <a:xfrm>
            <a:off x="5943600" y="4076700"/>
            <a:ext cx="95250" cy="17145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F2FF28E-C59B-401E-BAD6-41325EAF6C04}"/>
              </a:ext>
            </a:extLst>
          </p:cNvPr>
          <p:cNvSpPr>
            <a:spLocks noGrp="1"/>
          </p:cNvSpPr>
          <p:nvPr/>
        </p:nvSpPr>
        <p:spPr>
          <a:xfrm>
            <a:off x="5962650" y="3143250"/>
            <a:ext cx="2419350" cy="2171700"/>
          </a:xfrm>
          <a:prstGeom prst="roundRect">
            <a:avLst>
              <a:gd name="adj" fmla="val 350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074F9C-5230-431D-9AC5-A7D016C3E559}"/>
              </a:ext>
            </a:extLst>
          </p:cNvPr>
          <p:cNvSpPr>
            <a:spLocks noGrp="1"/>
          </p:cNvSpPr>
          <p:nvPr/>
        </p:nvSpPr>
        <p:spPr>
          <a:xfrm>
            <a:off x="5962650" y="3143250"/>
            <a:ext cx="76200" cy="21717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992497B-26BB-4D77-A0C0-AEEAE2738D0E}"/>
              </a:ext>
            </a:extLst>
          </p:cNvPr>
          <p:cNvSpPr>
            <a:spLocks noGrp="1"/>
          </p:cNvSpPr>
          <p:nvPr/>
        </p:nvSpPr>
        <p:spPr>
          <a:xfrm>
            <a:off x="6172200" y="33718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1E4B407-893C-4F8B-99C2-E435D59EB26C}"/>
              </a:ext>
            </a:extLst>
          </p:cNvPr>
          <p:cNvSpPr>
            <a:spLocks noGrp="1"/>
          </p:cNvSpPr>
          <p:nvPr/>
        </p:nvSpPr>
        <p:spPr>
          <a:xfrm>
            <a:off x="6296025" y="35147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F5D328C-5171-4C8F-B81C-9BDB9EE3A761}"/>
              </a:ext>
            </a:extLst>
          </p:cNvPr>
          <p:cNvSpPr>
            <a:spLocks noGrp="1"/>
          </p:cNvSpPr>
          <p:nvPr/>
        </p:nvSpPr>
        <p:spPr>
          <a:xfrm>
            <a:off x="6343650" y="36004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5BE3DB0-EFE5-488F-8707-7D6E508DE0E8}"/>
              </a:ext>
            </a:extLst>
          </p:cNvPr>
          <p:cNvSpPr>
            <a:spLocks noGrp="1"/>
          </p:cNvSpPr>
          <p:nvPr/>
        </p:nvSpPr>
        <p:spPr>
          <a:xfrm>
            <a:off x="6391275" y="36861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EBE644-44E1-4986-BA30-3AE9E345F00D}"/>
              </a:ext>
            </a:extLst>
          </p:cNvPr>
          <p:cNvSpPr>
            <a:spLocks noGrp="1"/>
          </p:cNvSpPr>
          <p:nvPr/>
        </p:nvSpPr>
        <p:spPr>
          <a:xfrm>
            <a:off x="6800850" y="33528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Vitals and activity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77ED6B-869C-4740-A451-6AD21F193C62}"/>
              </a:ext>
            </a:extLst>
          </p:cNvPr>
          <p:cNvSpPr>
            <a:spLocks noGrp="1"/>
          </p:cNvSpPr>
          <p:nvPr/>
        </p:nvSpPr>
        <p:spPr>
          <a:xfrm>
            <a:off x="6191250" y="3962400"/>
            <a:ext cx="19621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fetches HR, HRV,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respiratory rate, and SpO2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stats during the night, plus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day-before steps, active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energy, and exercise time.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282E3-DD3D-440B-9854-73887E50F50E}"/>
              </a:ext>
            </a:extLst>
          </p:cNvPr>
          <p:cNvSpPr>
            <a:spLocks noGrp="1"/>
          </p:cNvSpPr>
          <p:nvPr/>
        </p:nvSpPr>
        <p:spPr>
          <a:xfrm>
            <a:off x="8401050" y="4133850"/>
            <a:ext cx="133350" cy="5715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88D24-AD19-4A8C-BA07-B5576F7A8CD2}"/>
              </a:ext>
            </a:extLst>
          </p:cNvPr>
          <p:cNvSpPr>
            <a:spLocks noGrp="1"/>
          </p:cNvSpPr>
          <p:nvPr/>
        </p:nvSpPr>
        <p:spPr>
          <a:xfrm>
            <a:off x="8534400" y="4076700"/>
            <a:ext cx="95250" cy="17145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5D0E1F8-DC1F-44B8-8B20-AF4453EC1451}"/>
              </a:ext>
            </a:extLst>
          </p:cNvPr>
          <p:cNvSpPr>
            <a:spLocks noGrp="1"/>
          </p:cNvSpPr>
          <p:nvPr/>
        </p:nvSpPr>
        <p:spPr>
          <a:xfrm>
            <a:off x="8553450" y="3143250"/>
            <a:ext cx="2419350" cy="2171700"/>
          </a:xfrm>
          <a:prstGeom prst="roundRect">
            <a:avLst>
              <a:gd name="adj" fmla="val 350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20125D-AA45-40A9-920A-E49386E0C292}"/>
              </a:ext>
            </a:extLst>
          </p:cNvPr>
          <p:cNvSpPr>
            <a:spLocks noGrp="1"/>
          </p:cNvSpPr>
          <p:nvPr/>
        </p:nvSpPr>
        <p:spPr>
          <a:xfrm>
            <a:off x="8553450" y="3143250"/>
            <a:ext cx="76200" cy="21717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01EE2C7-3059-4C78-9AD7-6E280AA7C972}"/>
              </a:ext>
            </a:extLst>
          </p:cNvPr>
          <p:cNvSpPr>
            <a:spLocks noGrp="1"/>
          </p:cNvSpPr>
          <p:nvPr/>
        </p:nvSpPr>
        <p:spPr>
          <a:xfrm>
            <a:off x="8763000" y="33718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1BF79D-3CB1-4249-9F8A-511F50026631}"/>
              </a:ext>
            </a:extLst>
          </p:cNvPr>
          <p:cNvSpPr>
            <a:spLocks noGrp="1"/>
          </p:cNvSpPr>
          <p:nvPr/>
        </p:nvSpPr>
        <p:spPr>
          <a:xfrm>
            <a:off x="8915400" y="36480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C3EF58-201C-41F3-9FD6-2C5E483FC6E3}"/>
              </a:ext>
            </a:extLst>
          </p:cNvPr>
          <p:cNvSpPr>
            <a:spLocks noGrp="1"/>
          </p:cNvSpPr>
          <p:nvPr/>
        </p:nvSpPr>
        <p:spPr>
          <a:xfrm>
            <a:off x="9001125" y="35718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C9BEBA-C7DC-4106-A1F0-188849B2F8D3}"/>
              </a:ext>
            </a:extLst>
          </p:cNvPr>
          <p:cNvSpPr>
            <a:spLocks noGrp="1"/>
          </p:cNvSpPr>
          <p:nvPr/>
        </p:nvSpPr>
        <p:spPr>
          <a:xfrm>
            <a:off x="9086850" y="35052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A5B00C7-3A60-4772-BE7C-A954C6EA6804}"/>
              </a:ext>
            </a:extLst>
          </p:cNvPr>
          <p:cNvSpPr>
            <a:spLocks noGrp="1"/>
          </p:cNvSpPr>
          <p:nvPr/>
        </p:nvSpPr>
        <p:spPr>
          <a:xfrm>
            <a:off x="9391650" y="33528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Live payload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A9FC4A-8224-4AE9-A029-A71DA125921C}"/>
              </a:ext>
            </a:extLst>
          </p:cNvPr>
          <p:cNvSpPr>
            <a:spLocks noGrp="1"/>
          </p:cNvSpPr>
          <p:nvPr/>
        </p:nvSpPr>
        <p:spPr>
          <a:xfrm>
            <a:off x="8782050" y="3962400"/>
            <a:ext cx="19621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That yields 33 directly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computed features before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missing contract slots are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filled locally for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inference.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AA3B9B-13BD-47E8-8562-F55312069E44}"/>
              </a:ext>
            </a:extLst>
          </p:cNvPr>
          <p:cNvSpPr>
            <a:spLocks noGrp="1"/>
          </p:cNvSpPr>
          <p:nvPr/>
        </p:nvSpPr>
        <p:spPr>
          <a:xfrm>
            <a:off x="819150" y="563880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No cloud inference at prediction time. The app reads, computes, predicts, and renders locally on iPhone.</a:t>
            </a:r>
          </a:p>
        </p:txBody>
      </p:sp>
    </p:spTree>
    <p:extLst>
      <p:ext uri="{BB962C8B-B14F-4D97-AF65-F5344CB8AC3E}">
        <p14:creationId xmlns:p14="http://schemas.microsoft.com/office/powerpoint/2010/main" val="18078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144E3A-5611-4390-9522-A3361EA0B219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8D337-82A9-40DB-850E-D79E6B8CEACC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E8B50-D8AF-4FE0-AB71-C2EEE4472791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ON-DEVICE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E1A861-73ED-4215-98E0-B624CA3EC42E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4B4D88-505E-462F-A7C8-639506A0BE40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9715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The Model Computes On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BC031-110D-4FB3-94FC-ED2ABCC4A04E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FatigueModel.swift runs a 61-feature linear contract in pure Swift: 33 features come from the live HealthKit path and the remaining 28 are filled locally from the contract medians.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0E2FFE-1F89-4A90-8D46-D7FA2B1F12A8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5143500" cy="2590800"/>
          </a:xfrm>
          <a:prstGeom prst="roundRect">
            <a:avLst>
              <a:gd name="adj" fmla="val 2941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88DAA6-5A95-413F-9C2F-A5CCE68BA58C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95250" cy="25908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4A038-34A8-42AF-BDA9-BE71AF357D3A}"/>
              </a:ext>
            </a:extLst>
          </p:cNvPr>
          <p:cNvSpPr>
            <a:spLocks noGrp="1"/>
          </p:cNvSpPr>
          <p:nvPr/>
        </p:nvSpPr>
        <p:spPr>
          <a:xfrm>
            <a:off x="9334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Bundled contract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B06098-D9B8-4802-B590-A74054A14288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45339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mobile_linear_contract.json</a:t>
            </a:r>
          </a:p>
          <a:p>
            <a:endParaRPr sz="1200" b="0">
              <a:solidFill>
                <a:srgbClr val="111111"/>
              </a:solidFill>
            </a:endParaRP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feature_order: 61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imputer_median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scaler_mean / scaler_scale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coef + intercept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classes = [0, 1]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decision_threshold = 0.5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7241CB-BF3E-4D51-AA95-AC3F0DAEA215}"/>
              </a:ext>
            </a:extLst>
          </p:cNvPr>
          <p:cNvSpPr>
            <a:spLocks noGrp="1"/>
          </p:cNvSpPr>
          <p:nvPr/>
        </p:nvSpPr>
        <p:spPr>
          <a:xfrm>
            <a:off x="6362700" y="3067050"/>
            <a:ext cx="5162550" cy="2590800"/>
          </a:xfrm>
          <a:prstGeom prst="roundRect">
            <a:avLst>
              <a:gd name="adj" fmla="val 2941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9EED1-60B6-4CC9-BC86-9B486D163394}"/>
              </a:ext>
            </a:extLst>
          </p:cNvPr>
          <p:cNvSpPr>
            <a:spLocks noGrp="1"/>
          </p:cNvSpPr>
          <p:nvPr/>
        </p:nvSpPr>
        <p:spPr>
          <a:xfrm>
            <a:off x="6362700" y="3067050"/>
            <a:ext cx="95250" cy="2590800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F05F1D-4765-485D-8D9A-5C6757CB06D8}"/>
              </a:ext>
            </a:extLst>
          </p:cNvPr>
          <p:cNvSpPr>
            <a:spLocks noGrp="1"/>
          </p:cNvSpPr>
          <p:nvPr/>
        </p:nvSpPr>
        <p:spPr>
          <a:xfrm>
            <a:off x="662940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FatigueModel.predict()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384A1B-87B7-49EC-B15E-F3D6AF912401}"/>
              </a:ext>
            </a:extLst>
          </p:cNvPr>
          <p:cNvSpPr>
            <a:spLocks noGrp="1"/>
          </p:cNvSpPr>
          <p:nvPr/>
        </p:nvSpPr>
        <p:spPr>
          <a:xfrm>
            <a:off x="6629400" y="3619500"/>
            <a:ext cx="45339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features = completeFeatures(raw)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for f in feature_order: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x = raw[f] ?? imputer_median[f]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z = (x - mean[f]) / max(scale[f], 1e-12)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logit += z * coef[f]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p1 = 1 / (1 + exp(-logit))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label = p1 &gt;= 0.5 ? 1 :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68492-6BC4-4800-A848-4B9A76A7A6CC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66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Key point: the app ships the model as a JSON contract and executes every inference step locally in Swift without a Python runtime.</a:t>
            </a:r>
          </a:p>
        </p:txBody>
      </p:sp>
    </p:spTree>
    <p:extLst>
      <p:ext uri="{BB962C8B-B14F-4D97-AF65-F5344CB8AC3E}">
        <p14:creationId xmlns:p14="http://schemas.microsoft.com/office/powerpoint/2010/main" val="171563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5DD5A2-C0D0-436C-B147-F5C28D836C6B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BD5D8D-E15C-4A0A-B1F2-E452A32CC4F8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DA7B8E-0270-4838-86F5-282229F84A55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RUNTIME DIAGNOSTICS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674BE-B8DA-4AA4-9A11-8B0493D7FBD0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72409-C298-4423-AF1A-95020B5E7F25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477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What The App Exposes About Edge Runtime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66364-16EF-4758-A9A2-8914D2D6861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 UI and HealthKit manager surface missing-feature behavior, local latency, and OS-level integration points instead of hiding them.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FC383C-1DA8-4AEA-8B0D-A6FA360B1A2B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FD9AC7-2F93-4995-BEEC-06F6E6FDA390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7BF48B-9132-4E77-82B2-D935C3651F18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3BF3F-6983-46B7-AB40-550A4668FDF6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EDB6-0CD4-4621-B02D-E4A5B242778A}"/>
              </a:ext>
            </a:extLst>
          </p:cNvPr>
          <p:cNvSpPr>
            <a:spLocks noGrp="1"/>
          </p:cNvSpPr>
          <p:nvPr/>
        </p:nvSpPr>
        <p:spPr>
          <a:xfrm>
            <a:off x="1266825" y="36861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3D3A86-C7CE-477F-A2EE-0B7702FD1CF2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DDA711-8A8F-453A-9DA2-C80CA15B445E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Missing-data path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30077-8F4A-46AC-9C56-F318F640A6C1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UI shows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missingFeatureCount and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flags local median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imputation when contract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features are absent.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09028D-BDCF-48EC-8231-99C129670A96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7693E7-60D9-4E6A-9B45-4EF3E5A38F9B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83D717-1411-40FB-9B01-0D9899D9120C}"/>
              </a:ext>
            </a:extLst>
          </p:cNvPr>
          <p:cNvSpPr>
            <a:spLocks noGrp="1"/>
          </p:cNvSpPr>
          <p:nvPr/>
        </p:nvSpPr>
        <p:spPr>
          <a:xfrm>
            <a:off x="46228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78C907-C968-41B3-87B9-94430E3C368F}"/>
              </a:ext>
            </a:extLst>
          </p:cNvPr>
          <p:cNvSpPr>
            <a:spLocks noGrp="1"/>
          </p:cNvSpPr>
          <p:nvPr/>
        </p:nvSpPr>
        <p:spPr>
          <a:xfrm>
            <a:off x="4746625" y="36576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E013-7F24-4CEE-A8D8-6C6A205C9D39}"/>
              </a:ext>
            </a:extLst>
          </p:cNvPr>
          <p:cNvSpPr>
            <a:spLocks noGrp="1"/>
          </p:cNvSpPr>
          <p:nvPr/>
        </p:nvSpPr>
        <p:spPr>
          <a:xfrm>
            <a:off x="4918075" y="37433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1AAAEC-FAA5-4C80-8D95-58B814F9E3C7}"/>
              </a:ext>
            </a:extLst>
          </p:cNvPr>
          <p:cNvSpPr>
            <a:spLocks noGrp="1"/>
          </p:cNvSpPr>
          <p:nvPr/>
        </p:nvSpPr>
        <p:spPr>
          <a:xfrm>
            <a:off x="4832350" y="37242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720D09-CD83-41C0-A374-63E17F18E0D7}"/>
              </a:ext>
            </a:extLst>
          </p:cNvPr>
          <p:cNvSpPr>
            <a:spLocks noGrp="1"/>
          </p:cNvSpPr>
          <p:nvPr/>
        </p:nvSpPr>
        <p:spPr>
          <a:xfrm>
            <a:off x="52514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Local timing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1E2BFA-C0EB-415B-9020-41D43F2729D0}"/>
              </a:ext>
            </a:extLst>
          </p:cNvPr>
          <p:cNvSpPr>
            <a:spLocks noGrp="1"/>
          </p:cNvSpPr>
          <p:nvPr/>
        </p:nvSpPr>
        <p:spPr>
          <a:xfrm>
            <a:off x="46418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runPrediction() records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lastInferenceMs and the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footer explicitly says the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inference ran locally with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 server request.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62CCF5-2B8D-46AE-A36D-89EFA57A110E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BEA892-BC0A-41CB-9164-E61C360AADFE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099F73-65B0-45C3-81F3-91BE62FE8A1B}"/>
              </a:ext>
            </a:extLst>
          </p:cNvPr>
          <p:cNvSpPr>
            <a:spLocks noGrp="1"/>
          </p:cNvSpPr>
          <p:nvPr/>
        </p:nvSpPr>
        <p:spPr>
          <a:xfrm>
            <a:off x="82169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B49C44-0053-464C-BB5A-839F0B588FD1}"/>
              </a:ext>
            </a:extLst>
          </p:cNvPr>
          <p:cNvSpPr>
            <a:spLocks noGrp="1"/>
          </p:cNvSpPr>
          <p:nvPr/>
        </p:nvSpPr>
        <p:spPr>
          <a:xfrm>
            <a:off x="8340725" y="36290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AC74B6F-EF4B-4701-BE46-C5648E0A520C}"/>
              </a:ext>
            </a:extLst>
          </p:cNvPr>
          <p:cNvSpPr>
            <a:spLocks noGrp="1"/>
          </p:cNvSpPr>
          <p:nvPr/>
        </p:nvSpPr>
        <p:spPr>
          <a:xfrm>
            <a:off x="8388350" y="37147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744C362-003F-4F06-BBA5-09F28D4E465D}"/>
              </a:ext>
            </a:extLst>
          </p:cNvPr>
          <p:cNvSpPr>
            <a:spLocks noGrp="1"/>
          </p:cNvSpPr>
          <p:nvPr/>
        </p:nvSpPr>
        <p:spPr>
          <a:xfrm>
            <a:off x="8435975" y="38004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067B6C-0E7D-441C-A8AA-631D8160E465}"/>
              </a:ext>
            </a:extLst>
          </p:cNvPr>
          <p:cNvSpPr>
            <a:spLocks noGrp="1"/>
          </p:cNvSpPr>
          <p:nvPr/>
        </p:nvSpPr>
        <p:spPr>
          <a:xfrm>
            <a:off x="88455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OS 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AA9CDE-D2B3-432F-BBDE-BDB20D555802}"/>
              </a:ext>
            </a:extLst>
          </p:cNvPr>
          <p:cNvSpPr>
            <a:spLocks noGrp="1"/>
          </p:cNvSpPr>
          <p:nvPr/>
        </p:nvSpPr>
        <p:spPr>
          <a:xfrm>
            <a:off x="82359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HealthKitManager enables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hourly background delivery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HKObserverQuery for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local refresh when new sleep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data arrives.</a:t>
            </a:r>
          </a:p>
        </p:txBody>
      </p:sp>
    </p:spTree>
    <p:extLst>
      <p:ext uri="{BB962C8B-B14F-4D97-AF65-F5344CB8AC3E}">
        <p14:creationId xmlns:p14="http://schemas.microsoft.com/office/powerpoint/2010/main" val="1048883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5A27DF-0213-4E54-80F6-D450DD6F3A1A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45EB5-65E6-4D3C-BCD8-D2CCEC15A423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3D9D9-1FC7-4449-BD3C-B69D60085D3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EVALUATION SETUP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C8449-2701-4265-A240-3182F701760C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5AC7BB-5687-4917-91A8-3C4C7389124E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096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Evaluation Still Stays Honest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9F6C8-1CA1-44F0-8E94-6F6963FCF9F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 dataset is small and the split is chronological, so any claims about on-device ML quality should stay exploratory and course-demo appropriate.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CE5769-4C1D-4811-87B1-BD24950D2D4C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5026E3-1C48-4986-A7C2-24D58B699962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3143250" cy="666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3C2CD6-A376-469E-8DA0-1221E0F208B7}"/>
              </a:ext>
            </a:extLst>
          </p:cNvPr>
          <p:cNvSpPr>
            <a:spLocks noGrp="1"/>
          </p:cNvSpPr>
          <p:nvPr/>
        </p:nvSpPr>
        <p:spPr>
          <a:xfrm>
            <a:off x="1085850" y="36576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359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637E9A-E482-438F-B09B-70F049456314}"/>
              </a:ext>
            </a:extLst>
          </p:cNvPr>
          <p:cNvSpPr>
            <a:spLocks noGrp="1"/>
          </p:cNvSpPr>
          <p:nvPr/>
        </p:nvSpPr>
        <p:spPr>
          <a:xfrm>
            <a:off x="1104900" y="42100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Labeled nights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3B97F6-C020-4AEA-9976-26C04FB67031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from the report dataset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7F2866-DC3F-430B-902C-1944F1D45D74}"/>
              </a:ext>
            </a:extLst>
          </p:cNvPr>
          <p:cNvSpPr>
            <a:spLocks noGrp="1"/>
          </p:cNvSpPr>
          <p:nvPr/>
        </p:nvSpPr>
        <p:spPr>
          <a:xfrm>
            <a:off x="4400550" y="342900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75F9DF-86B1-4B2E-939E-5D5F859B762E}"/>
              </a:ext>
            </a:extLst>
          </p:cNvPr>
          <p:cNvSpPr>
            <a:spLocks noGrp="1"/>
          </p:cNvSpPr>
          <p:nvPr/>
        </p:nvSpPr>
        <p:spPr>
          <a:xfrm>
            <a:off x="4400550" y="3429000"/>
            <a:ext cx="3143250" cy="6667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17ED99-E088-43BF-8A78-0CAFBB4B8D41}"/>
              </a:ext>
            </a:extLst>
          </p:cNvPr>
          <p:cNvSpPr>
            <a:spLocks noGrp="1"/>
          </p:cNvSpPr>
          <p:nvPr/>
        </p:nvSpPr>
        <p:spPr>
          <a:xfrm>
            <a:off x="4610100" y="36576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70 / 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3E2743-2068-42D2-804A-E666D6692EAC}"/>
              </a:ext>
            </a:extLst>
          </p:cNvPr>
          <p:cNvSpPr>
            <a:spLocks noGrp="1"/>
          </p:cNvSpPr>
          <p:nvPr/>
        </p:nvSpPr>
        <p:spPr>
          <a:xfrm>
            <a:off x="4629150" y="42100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Time-based split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D3F1C-2894-4A3C-8F85-55E4746F63B8}"/>
              </a:ext>
            </a:extLst>
          </p:cNvPr>
          <p:cNvSpPr>
            <a:spLocks noGrp="1"/>
          </p:cNvSpPr>
          <p:nvPr/>
        </p:nvSpPr>
        <p:spPr>
          <a:xfrm>
            <a:off x="4629150" y="481965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251 train / 108 test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7A8026-D650-42E1-B5A5-355E6DC332D7}"/>
              </a:ext>
            </a:extLst>
          </p:cNvPr>
          <p:cNvSpPr>
            <a:spLocks noGrp="1"/>
          </p:cNvSpPr>
          <p:nvPr/>
        </p:nvSpPr>
        <p:spPr>
          <a:xfrm>
            <a:off x="7924800" y="342900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F4B824-5D2D-484D-975F-0BDD0E42D22B}"/>
              </a:ext>
            </a:extLst>
          </p:cNvPr>
          <p:cNvSpPr>
            <a:spLocks noGrp="1"/>
          </p:cNvSpPr>
          <p:nvPr/>
        </p:nvSpPr>
        <p:spPr>
          <a:xfrm>
            <a:off x="7924800" y="3429000"/>
            <a:ext cx="3143250" cy="66675"/>
          </a:xfrm>
          <a:prstGeom prst="rect">
            <a:avLst/>
          </a:prstGeom>
          <a:solidFill>
            <a:srgbClr val="B387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D6384A-8AD6-4460-A3B1-D602DF48AEF7}"/>
              </a:ext>
            </a:extLst>
          </p:cNvPr>
          <p:cNvSpPr>
            <a:spLocks noGrp="1"/>
          </p:cNvSpPr>
          <p:nvPr/>
        </p:nvSpPr>
        <p:spPr>
          <a:xfrm>
            <a:off x="8134350" y="36576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108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23D1B-4248-4A9A-9956-012F1858B8DF}"/>
              </a:ext>
            </a:extLst>
          </p:cNvPr>
          <p:cNvSpPr>
            <a:spLocks noGrp="1"/>
          </p:cNvSpPr>
          <p:nvPr/>
        </p:nvSpPr>
        <p:spPr>
          <a:xfrm>
            <a:off x="8153400" y="42100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Hold-out rows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4D2239-949D-4E7A-A3DB-E45075D35061}"/>
              </a:ext>
            </a:extLst>
          </p:cNvPr>
          <p:cNvSpPr>
            <a:spLocks noGrp="1"/>
          </p:cNvSpPr>
          <p:nvPr/>
        </p:nvSpPr>
        <p:spPr>
          <a:xfrm>
            <a:off x="8153400" y="481965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chronologically later nights</a:t>
            </a:r>
          </a:p>
        </p:txBody>
      </p:sp>
    </p:spTree>
    <p:extLst>
      <p:ext uri="{BB962C8B-B14F-4D97-AF65-F5344CB8AC3E}">
        <p14:creationId xmlns:p14="http://schemas.microsoft.com/office/powerpoint/2010/main" val="2772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EB6E19-25A3-4C75-A8FA-A219B911BFFC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8A1E73-F143-4978-B048-35B86165EDDE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BF309-5E9C-4272-8226-E5506BC3801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RESULTS AND LESSONS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EE8EFC-BA8B-473C-BB52-B67222D285AB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A9512-08A3-44A8-8A68-E0B77EAE6F22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858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ML Score Is Modest, The System Result Is Stronger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ABF45-340C-4359-B29A-D9A0514416F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That is consistent with where the project effort went: proving the mobile path and characterizing its limits, not chasing benchmark gains.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47237A-320A-4F7C-97D8-71D3630A73F8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5619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24075" y="2667000"/>
            <a:ext cx="2705100" cy="2705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3A844A-5F87-45B7-AC85-C999E06785B9}"/>
              </a:ext>
            </a:extLst>
          </p:cNvPr>
          <p:cNvSpPr>
            <a:spLocks noGrp="1"/>
          </p:cNvSpPr>
          <p:nvPr/>
        </p:nvSpPr>
        <p:spPr>
          <a:xfrm>
            <a:off x="800100" y="5429250"/>
            <a:ext cx="5353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Report-era Random Forest confusion matrix.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7F4F365-030C-41CA-A3CC-95841E1A63A3}"/>
              </a:ext>
            </a:extLst>
          </p:cNvPr>
          <p:cNvSpPr>
            <a:spLocks noGrp="1"/>
          </p:cNvSpPr>
          <p:nvPr/>
        </p:nvSpPr>
        <p:spPr>
          <a:xfrm>
            <a:off x="6800850" y="2552700"/>
            <a:ext cx="215265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0B772B-AC87-4735-9878-4A7BEB8A73FB}"/>
              </a:ext>
            </a:extLst>
          </p:cNvPr>
          <p:cNvSpPr>
            <a:spLocks noGrp="1"/>
          </p:cNvSpPr>
          <p:nvPr/>
        </p:nvSpPr>
        <p:spPr>
          <a:xfrm>
            <a:off x="6800850" y="2552700"/>
            <a:ext cx="2152650" cy="666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FF36A9-D4D7-4A65-A9D0-3BECEA419BEA}"/>
              </a:ext>
            </a:extLst>
          </p:cNvPr>
          <p:cNvSpPr>
            <a:spLocks noGrp="1"/>
          </p:cNvSpPr>
          <p:nvPr/>
        </p:nvSpPr>
        <p:spPr>
          <a:xfrm>
            <a:off x="7010400" y="2781300"/>
            <a:ext cx="1733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0.51 F1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0D1FC-C26A-4ED8-8ADE-1E7F9FF44747}"/>
              </a:ext>
            </a:extLst>
          </p:cNvPr>
          <p:cNvSpPr>
            <a:spLocks noGrp="1"/>
          </p:cNvSpPr>
          <p:nvPr/>
        </p:nvSpPr>
        <p:spPr>
          <a:xfrm>
            <a:off x="7029450" y="33337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Report RF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18FC82-3E63-4B0D-ACAE-EB23C8172CD7}"/>
              </a:ext>
            </a:extLst>
          </p:cNvPr>
          <p:cNvSpPr>
            <a:spLocks noGrp="1"/>
          </p:cNvSpPr>
          <p:nvPr/>
        </p:nvSpPr>
        <p:spPr>
          <a:xfrm>
            <a:off x="7029450" y="3543300"/>
            <a:ext cx="1695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hold-out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67FCA92-EEF1-4BFD-9326-D81628D66445}"/>
              </a:ext>
            </a:extLst>
          </p:cNvPr>
          <p:cNvSpPr>
            <a:spLocks noGrp="1"/>
          </p:cNvSpPr>
          <p:nvPr/>
        </p:nvSpPr>
        <p:spPr>
          <a:xfrm>
            <a:off x="9163050" y="2552700"/>
            <a:ext cx="215265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79742E-14C9-4252-ADB5-A9A3B3476D22}"/>
              </a:ext>
            </a:extLst>
          </p:cNvPr>
          <p:cNvSpPr>
            <a:spLocks noGrp="1"/>
          </p:cNvSpPr>
          <p:nvPr/>
        </p:nvSpPr>
        <p:spPr>
          <a:xfrm>
            <a:off x="9163050" y="2552700"/>
            <a:ext cx="2152650" cy="6667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F53641-3663-46C1-8CED-AA37089E206B}"/>
              </a:ext>
            </a:extLst>
          </p:cNvPr>
          <p:cNvSpPr>
            <a:spLocks noGrp="1"/>
          </p:cNvSpPr>
          <p:nvPr/>
        </p:nvSpPr>
        <p:spPr>
          <a:xfrm>
            <a:off x="9372600" y="2781300"/>
            <a:ext cx="1733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52% acc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D9A504-2712-4948-BC98-3A3E480F81E0}"/>
              </a:ext>
            </a:extLst>
          </p:cNvPr>
          <p:cNvSpPr>
            <a:spLocks noGrp="1"/>
          </p:cNvSpPr>
          <p:nvPr/>
        </p:nvSpPr>
        <p:spPr>
          <a:xfrm>
            <a:off x="9391650" y="33337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Report RF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9D772A-EF92-4399-A7EC-DDD9045CCBC4}"/>
              </a:ext>
            </a:extLst>
          </p:cNvPr>
          <p:cNvSpPr>
            <a:spLocks noGrp="1"/>
          </p:cNvSpPr>
          <p:nvPr/>
        </p:nvSpPr>
        <p:spPr>
          <a:xfrm>
            <a:off x="9391650" y="3543300"/>
            <a:ext cx="1695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hold-out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AE13142-0416-4DF1-9276-2A13D1322693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215265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90C206-E2E4-436B-B179-189A94DC7D86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2152650" cy="66675"/>
          </a:xfrm>
          <a:prstGeom prst="rect">
            <a:avLst/>
          </a:prstGeom>
          <a:solidFill>
            <a:srgbClr val="B387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5F5B42-C1D0-47A1-8316-905E3D99C594}"/>
              </a:ext>
            </a:extLst>
          </p:cNvPr>
          <p:cNvSpPr>
            <a:spLocks noGrp="1"/>
          </p:cNvSpPr>
          <p:nvPr/>
        </p:nvSpPr>
        <p:spPr>
          <a:xfrm>
            <a:off x="7010400" y="4324350"/>
            <a:ext cx="1733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0.4906 F1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6ACAF8-FBC9-4C10-886E-9F0424D16A1E}"/>
              </a:ext>
            </a:extLst>
          </p:cNvPr>
          <p:cNvSpPr>
            <a:spLocks noGrp="1"/>
          </p:cNvSpPr>
          <p:nvPr/>
        </p:nvSpPr>
        <p:spPr>
          <a:xfrm>
            <a:off x="7029450" y="487680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Mobile artifact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09009A-46AD-44F5-ADC8-70B50E8B244A}"/>
              </a:ext>
            </a:extLst>
          </p:cNvPr>
          <p:cNvSpPr>
            <a:spLocks noGrp="1"/>
          </p:cNvSpPr>
          <p:nvPr/>
        </p:nvSpPr>
        <p:spPr>
          <a:xfrm>
            <a:off x="7029450" y="5086350"/>
            <a:ext cx="1695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2026-04-05, SGD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50346CF-DCD9-4DDE-BCCC-4389CA29459F}"/>
              </a:ext>
            </a:extLst>
          </p:cNvPr>
          <p:cNvSpPr>
            <a:spLocks noGrp="1"/>
          </p:cNvSpPr>
          <p:nvPr/>
        </p:nvSpPr>
        <p:spPr>
          <a:xfrm>
            <a:off x="9163050" y="4095750"/>
            <a:ext cx="215265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A6B540-4AF9-4136-BC05-A78D376D8335}"/>
              </a:ext>
            </a:extLst>
          </p:cNvPr>
          <p:cNvSpPr>
            <a:spLocks noGrp="1"/>
          </p:cNvSpPr>
          <p:nvPr/>
        </p:nvSpPr>
        <p:spPr>
          <a:xfrm>
            <a:off x="9163050" y="4095750"/>
            <a:ext cx="2152650" cy="666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809A01-8CE1-4AA1-99EE-A632056D6B98}"/>
              </a:ext>
            </a:extLst>
          </p:cNvPr>
          <p:cNvSpPr>
            <a:spLocks noGrp="1"/>
          </p:cNvSpPr>
          <p:nvPr/>
        </p:nvSpPr>
        <p:spPr>
          <a:xfrm>
            <a:off x="9372600" y="4324350"/>
            <a:ext cx="1733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8337AD-6DB9-422B-BF7A-47B9FF159E0D}"/>
              </a:ext>
            </a:extLst>
          </p:cNvPr>
          <p:cNvSpPr>
            <a:spLocks noGrp="1"/>
          </p:cNvSpPr>
          <p:nvPr/>
        </p:nvSpPr>
        <p:spPr>
          <a:xfrm>
            <a:off x="9391650" y="487680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Artifact size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7891A0-C32E-4495-B413-737C9380A104}"/>
              </a:ext>
            </a:extLst>
          </p:cNvPr>
          <p:cNvSpPr>
            <a:spLocks noGrp="1"/>
          </p:cNvSpPr>
          <p:nvPr/>
        </p:nvSpPr>
        <p:spPr>
          <a:xfrm>
            <a:off x="9391650" y="5086350"/>
            <a:ext cx="1695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p95 5.62 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A2B2D7-6A50-421E-B141-23CC2C0283AA}"/>
              </a:ext>
            </a:extLst>
          </p:cNvPr>
          <p:cNvSpPr>
            <a:spLocks noGrp="1"/>
          </p:cNvSpPr>
          <p:nvPr/>
        </p:nvSpPr>
        <p:spPr>
          <a:xfrm>
            <a:off x="666750" y="5848350"/>
            <a:ext cx="1057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Interpretation: accuracy is exploratory, but the mobile artifact is compact, fast, and suitable for private on-device inference.</a:t>
            </a:r>
          </a:p>
        </p:txBody>
      </p:sp>
    </p:spTree>
    <p:extLst>
      <p:ext uri="{BB962C8B-B14F-4D97-AF65-F5344CB8AC3E}">
        <p14:creationId xmlns:p14="http://schemas.microsoft.com/office/powerpoint/2010/main" val="402277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1F7E65-0B24-463C-A88E-1C1F662F46FA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71F0AD-38C2-4D74-8883-493C5D22C49C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F893E-1C36-46F3-A2A3-ADECCAA32897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LIVE DEMO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F74D4-FE98-451D-BDD2-9E8B9AC44A8E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25DCAB-7CED-4946-9F79-927DD3422A7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477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Physical Device Demo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E616F-E332-4A76-8300-C7DC7AA0068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Real HealthKit requires a physical iPhone. The simulator is useful only for UI flow and demo-mode fallback.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97AD36-A04A-4D42-9F1C-60533DE52C09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0666A-70F3-4FF7-A6CC-53CCDFF200CA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4F2A4B-C39C-4213-8C6D-05839E7696FF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4E0B36-1130-4180-89FB-6C54AFEA5648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5C96C2-1419-4C7C-A185-FA3ACCAEB01F}"/>
              </a:ext>
            </a:extLst>
          </p:cNvPr>
          <p:cNvSpPr>
            <a:spLocks noGrp="1"/>
          </p:cNvSpPr>
          <p:nvPr/>
        </p:nvSpPr>
        <p:spPr>
          <a:xfrm>
            <a:off x="1266825" y="36861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8B12D9-E884-44B9-AAA0-713923B8D5E1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452158-D89F-44CC-9F30-325C516F21C7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9299D-83B4-488F-8A48-EBFDA25F974F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Run on a real iPhone, grant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Health permissions, and tap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Fetch plus Predict.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8FD5659-C164-4F4C-8610-ED23CD6AD949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BDAFE-0689-40EF-963F-9A99312276C7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BD7811-27D6-4E4D-B5D9-F2904159594B}"/>
              </a:ext>
            </a:extLst>
          </p:cNvPr>
          <p:cNvSpPr>
            <a:spLocks noGrp="1"/>
          </p:cNvSpPr>
          <p:nvPr/>
        </p:nvSpPr>
        <p:spPr>
          <a:xfrm>
            <a:off x="46228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60138A-A951-4CD3-A20D-567014A24011}"/>
              </a:ext>
            </a:extLst>
          </p:cNvPr>
          <p:cNvSpPr>
            <a:spLocks noGrp="1"/>
          </p:cNvSpPr>
          <p:nvPr/>
        </p:nvSpPr>
        <p:spPr>
          <a:xfrm>
            <a:off x="4746625" y="36576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3D68D3-136B-4479-B906-1726CE805198}"/>
              </a:ext>
            </a:extLst>
          </p:cNvPr>
          <p:cNvSpPr>
            <a:spLocks noGrp="1"/>
          </p:cNvSpPr>
          <p:nvPr/>
        </p:nvSpPr>
        <p:spPr>
          <a:xfrm>
            <a:off x="4918075" y="37433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5D8F16-CCEA-4E68-9A61-F334734DBFAE}"/>
              </a:ext>
            </a:extLst>
          </p:cNvPr>
          <p:cNvSpPr>
            <a:spLocks noGrp="1"/>
          </p:cNvSpPr>
          <p:nvPr/>
        </p:nvSpPr>
        <p:spPr>
          <a:xfrm>
            <a:off x="4832350" y="37242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1B6109-3658-4AF0-A412-D32615ACC8E2}"/>
              </a:ext>
            </a:extLst>
          </p:cNvPr>
          <p:cNvSpPr>
            <a:spLocks noGrp="1"/>
          </p:cNvSpPr>
          <p:nvPr/>
        </p:nvSpPr>
        <p:spPr>
          <a:xfrm>
            <a:off x="52514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Step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536E38-089B-4D4E-B947-3D874733E9D2}"/>
              </a:ext>
            </a:extLst>
          </p:cNvPr>
          <p:cNvSpPr>
            <a:spLocks noGrp="1"/>
          </p:cNvSpPr>
          <p:nvPr/>
        </p:nvSpPr>
        <p:spPr>
          <a:xfrm>
            <a:off x="46418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Show the prediction card and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open the 7-night history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view from recent synced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data.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171E7CE-F81A-41DC-BF59-1D4B9627BE40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00F501-6920-45CA-8770-21DEFC35E9E3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2D9F8E9-4E16-4666-9A92-4BE37910A427}"/>
              </a:ext>
            </a:extLst>
          </p:cNvPr>
          <p:cNvSpPr>
            <a:spLocks noGrp="1"/>
          </p:cNvSpPr>
          <p:nvPr/>
        </p:nvSpPr>
        <p:spPr>
          <a:xfrm>
            <a:off x="82169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1D7906C-ABD8-4654-A9DD-BDD7956AFC9C}"/>
              </a:ext>
            </a:extLst>
          </p:cNvPr>
          <p:cNvSpPr>
            <a:spLocks noGrp="1"/>
          </p:cNvSpPr>
          <p:nvPr/>
        </p:nvSpPr>
        <p:spPr>
          <a:xfrm>
            <a:off x="8340725" y="36290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FC78203-7CA2-49FF-AB96-09F0FA7543FC}"/>
              </a:ext>
            </a:extLst>
          </p:cNvPr>
          <p:cNvSpPr>
            <a:spLocks noGrp="1"/>
          </p:cNvSpPr>
          <p:nvPr/>
        </p:nvSpPr>
        <p:spPr>
          <a:xfrm>
            <a:off x="8388350" y="37147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A8ECA2-F0D0-48B0-806A-568043AA2D40}"/>
              </a:ext>
            </a:extLst>
          </p:cNvPr>
          <p:cNvSpPr>
            <a:spLocks noGrp="1"/>
          </p:cNvSpPr>
          <p:nvPr/>
        </p:nvSpPr>
        <p:spPr>
          <a:xfrm>
            <a:off x="8435975" y="38004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3F1613-A6CF-42DD-8D35-46EDC3045187}"/>
              </a:ext>
            </a:extLst>
          </p:cNvPr>
          <p:cNvSpPr>
            <a:spLocks noGrp="1"/>
          </p:cNvSpPr>
          <p:nvPr/>
        </p:nvSpPr>
        <p:spPr>
          <a:xfrm>
            <a:off x="88455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Fallback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AD61CB-51C3-46E0-82F6-499B15BA46E8}"/>
              </a:ext>
            </a:extLst>
          </p:cNvPr>
          <p:cNvSpPr>
            <a:spLocks noGrp="1"/>
          </p:cNvSpPr>
          <p:nvPr/>
        </p:nvSpPr>
        <p:spPr>
          <a:xfrm>
            <a:off x="82359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If live HealthKit fetch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fails, use simulator demo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mode to prove the local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feature and inference path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still works.</a:t>
            </a:r>
          </a:p>
        </p:txBody>
      </p:sp>
    </p:spTree>
    <p:extLst>
      <p:ext uri="{BB962C8B-B14F-4D97-AF65-F5344CB8AC3E}">
        <p14:creationId xmlns:p14="http://schemas.microsoft.com/office/powerpoint/2010/main" val="450087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BBB81E-F21E-4359-9B55-38911034E01C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6B2DC-C432-45F5-9A2E-19AED60ABFF0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11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701CB-943C-47F4-81BE-7C985D300A51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CONCLUSION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6B3BE-B778-4B29-A4A2-E97E026DB945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0AC599-73E5-4896-80F7-D29319236F49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096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Key Takeaways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4B2BC2-E456-4E84-8346-4B6A1BEED07C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 strongest contribution is the mobile integration story: real HealthKit sensing, Swift feature engineering, local contract math, and clear lessons from what still breaks or gets imputed.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E27744-23C4-4358-8665-E39095BD3CB8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FE9ED-D9BC-4A4F-9589-96B714597A63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3143250" cy="666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0FA13-C684-4061-BB71-8E063EA524E3}"/>
              </a:ext>
            </a:extLst>
          </p:cNvPr>
          <p:cNvSpPr>
            <a:spLocks noGrp="1"/>
          </p:cNvSpPr>
          <p:nvPr/>
        </p:nvSpPr>
        <p:spPr>
          <a:xfrm>
            <a:off x="1085850" y="36576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Private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017B9-176C-4B86-8431-45C08106DE7D}"/>
              </a:ext>
            </a:extLst>
          </p:cNvPr>
          <p:cNvSpPr>
            <a:spLocks noGrp="1"/>
          </p:cNvSpPr>
          <p:nvPr/>
        </p:nvSpPr>
        <p:spPr>
          <a:xfrm>
            <a:off x="1104900" y="42100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No cloud inference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740CB-BC94-4419-AB3E-31B863E06524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prediction stays local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18D4BD8-865F-402D-8417-D37DBE754F7F}"/>
              </a:ext>
            </a:extLst>
          </p:cNvPr>
          <p:cNvSpPr>
            <a:spLocks noGrp="1"/>
          </p:cNvSpPr>
          <p:nvPr/>
        </p:nvSpPr>
        <p:spPr>
          <a:xfrm>
            <a:off x="4400550" y="342900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8B70B1-57BB-4599-A98A-AD26525B0231}"/>
              </a:ext>
            </a:extLst>
          </p:cNvPr>
          <p:cNvSpPr>
            <a:spLocks noGrp="1"/>
          </p:cNvSpPr>
          <p:nvPr/>
        </p:nvSpPr>
        <p:spPr>
          <a:xfrm>
            <a:off x="4400550" y="3429000"/>
            <a:ext cx="3143250" cy="6667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EB50F8-DC88-4D2B-8787-BBF149818663}"/>
              </a:ext>
            </a:extLst>
          </p:cNvPr>
          <p:cNvSpPr>
            <a:spLocks noGrp="1"/>
          </p:cNvSpPr>
          <p:nvPr/>
        </p:nvSpPr>
        <p:spPr>
          <a:xfrm>
            <a:off x="4610100" y="36576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61 / 33 / 28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573123-852E-4D25-B1B9-A897B5D70D22}"/>
              </a:ext>
            </a:extLst>
          </p:cNvPr>
          <p:cNvSpPr>
            <a:spLocks noGrp="1"/>
          </p:cNvSpPr>
          <p:nvPr/>
        </p:nvSpPr>
        <p:spPr>
          <a:xfrm>
            <a:off x="4629150" y="42100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Contract / live / imputed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EB24AA-1E91-4333-9B23-71E2D11AE61C}"/>
              </a:ext>
            </a:extLst>
          </p:cNvPr>
          <p:cNvSpPr>
            <a:spLocks noGrp="1"/>
          </p:cNvSpPr>
          <p:nvPr/>
        </p:nvSpPr>
        <p:spPr>
          <a:xfrm>
            <a:off x="4629150" y="481965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current edge path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45C9494-96B1-4841-9C70-DC390EBFC831}"/>
              </a:ext>
            </a:extLst>
          </p:cNvPr>
          <p:cNvSpPr>
            <a:spLocks noGrp="1"/>
          </p:cNvSpPr>
          <p:nvPr/>
        </p:nvSpPr>
        <p:spPr>
          <a:xfrm>
            <a:off x="7924800" y="342900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66D783-E34B-4B0E-8449-C62591E58BCF}"/>
              </a:ext>
            </a:extLst>
          </p:cNvPr>
          <p:cNvSpPr>
            <a:spLocks noGrp="1"/>
          </p:cNvSpPr>
          <p:nvPr/>
        </p:nvSpPr>
        <p:spPr>
          <a:xfrm>
            <a:off x="7924800" y="3429000"/>
            <a:ext cx="3143250" cy="66675"/>
          </a:xfrm>
          <a:prstGeom prst="rect">
            <a:avLst/>
          </a:prstGeom>
          <a:solidFill>
            <a:srgbClr val="B387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D95374-5377-43E5-ADE4-4A7342536302}"/>
              </a:ext>
            </a:extLst>
          </p:cNvPr>
          <p:cNvSpPr>
            <a:spLocks noGrp="1"/>
          </p:cNvSpPr>
          <p:nvPr/>
        </p:nvSpPr>
        <p:spPr>
          <a:xfrm>
            <a:off x="8134350" y="36576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4CD9FC-1904-4A81-9728-324D74623CB0}"/>
              </a:ext>
            </a:extLst>
          </p:cNvPr>
          <p:cNvSpPr>
            <a:spLocks noGrp="1"/>
          </p:cNvSpPr>
          <p:nvPr/>
        </p:nvSpPr>
        <p:spPr>
          <a:xfrm>
            <a:off x="8153400" y="42100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Compact artifact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3724D-389E-4F42-9CDD-26F3C948B0B4}"/>
              </a:ext>
            </a:extLst>
          </p:cNvPr>
          <p:cNvSpPr>
            <a:spLocks noGrp="1"/>
          </p:cNvSpPr>
          <p:nvPr/>
        </p:nvSpPr>
        <p:spPr>
          <a:xfrm>
            <a:off x="8153400" y="481965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p95 5.62 ms in artifact report</a:t>
            </a:r>
          </a:p>
        </p:txBody>
      </p:sp>
    </p:spTree>
    <p:extLst>
      <p:ext uri="{BB962C8B-B14F-4D97-AF65-F5344CB8AC3E}">
        <p14:creationId xmlns:p14="http://schemas.microsoft.com/office/powerpoint/2010/main" val="70374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3F673B-B00A-4F94-89C9-7D9C32CE3AB7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AF34F-5DAA-4107-86B8-FDD781A26F47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12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85B3C-08C4-4757-953E-F1823C4B6FAC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BACKUP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B1F74-F4F6-4457-A8B6-4420A6981FA7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BC8AE9-7E48-4212-9F30-6AD3F8CF94E5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572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Feature Importance: Physical Load Dominates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49F1D2-7978-484B-8EB8-3642B0C6DD6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 strongest predictors reflect cumulative activity, not only isolated one-night sleep measurements.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359450-A96E-4EA1-924A-4EEA6F0F2A0D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781050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14513" y="2305050"/>
            <a:ext cx="5514975" cy="36766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6845A0-3F13-435C-B5BE-0BEEE52DE246}"/>
              </a:ext>
            </a:extLst>
          </p:cNvPr>
          <p:cNvSpPr>
            <a:spLocks noGrp="1"/>
          </p:cNvSpPr>
          <p:nvPr/>
        </p:nvSpPr>
        <p:spPr>
          <a:xfrm>
            <a:off x="800100" y="6038850"/>
            <a:ext cx="7543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66C"/>
                </a:solidFill>
              </a:defRPr>
            </a:pPr>
            <a:r>
              <a:rPr sz="750" b="0">
                <a:solidFill>
                  <a:srgbClr val="5F666C"/>
                </a:solidFill>
              </a:rPr>
              <a:t>Feature importance from the report-era Random Forest model.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459003-AD5D-4049-A3EC-E32690C1B8AF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2762250" cy="2171700"/>
          </a:xfrm>
          <a:prstGeom prst="roundRect">
            <a:avLst>
              <a:gd name="adj" fmla="val 3509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D9162-7F36-4B46-B0BE-CC1AF765DCF5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76200" cy="21717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DA07FC3-8CBC-4690-8372-D05D01F16AC6}"/>
              </a:ext>
            </a:extLst>
          </p:cNvPr>
          <p:cNvSpPr>
            <a:spLocks noGrp="1"/>
          </p:cNvSpPr>
          <p:nvPr/>
        </p:nvSpPr>
        <p:spPr>
          <a:xfrm>
            <a:off x="8972550" y="28384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9F23B48-E8A5-4346-869B-782A859008DF}"/>
              </a:ext>
            </a:extLst>
          </p:cNvPr>
          <p:cNvSpPr>
            <a:spLocks noGrp="1"/>
          </p:cNvSpPr>
          <p:nvPr/>
        </p:nvSpPr>
        <p:spPr>
          <a:xfrm>
            <a:off x="9096375" y="29813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60DF7F3-27D2-4803-AD47-7E81853517EE}"/>
              </a:ext>
            </a:extLst>
          </p:cNvPr>
          <p:cNvSpPr>
            <a:spLocks noGrp="1"/>
          </p:cNvSpPr>
          <p:nvPr/>
        </p:nvSpPr>
        <p:spPr>
          <a:xfrm>
            <a:off x="9144000" y="30670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5867C2-9FA6-44DE-ACF9-3AE3FBE4A69E}"/>
              </a:ext>
            </a:extLst>
          </p:cNvPr>
          <p:cNvSpPr>
            <a:spLocks noGrp="1"/>
          </p:cNvSpPr>
          <p:nvPr/>
        </p:nvSpPr>
        <p:spPr>
          <a:xfrm>
            <a:off x="9191625" y="31527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53FDC5-7434-47FC-9EB1-4B316B048212}"/>
              </a:ext>
            </a:extLst>
          </p:cNvPr>
          <p:cNvSpPr>
            <a:spLocks noGrp="1"/>
          </p:cNvSpPr>
          <p:nvPr/>
        </p:nvSpPr>
        <p:spPr>
          <a:xfrm>
            <a:off x="9601200" y="28194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Interpretation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68962C-F08B-43EE-8178-74F93DDF3ACB}"/>
              </a:ext>
            </a:extLst>
          </p:cNvPr>
          <p:cNvSpPr>
            <a:spLocks noGrp="1"/>
          </p:cNvSpPr>
          <p:nvPr/>
        </p:nvSpPr>
        <p:spPr>
          <a:xfrm>
            <a:off x="8991600" y="3429000"/>
            <a:ext cx="23050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Rolling steps and active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energy outrank isolated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overnight measures. That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suggests subjective fatigue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is cumulative across days.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0527E-0182-4C9A-B6C7-FB3B299F5E29}"/>
              </a:ext>
            </a:extLst>
          </p:cNvPr>
          <p:cNvSpPr>
            <a:spLocks noGrp="1"/>
          </p:cNvSpPr>
          <p:nvPr/>
        </p:nvSpPr>
        <p:spPr>
          <a:xfrm>
            <a:off x="8763000" y="504825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66C"/>
                </a:solidFill>
              </a:defRPr>
            </a:pPr>
            <a:r>
              <a:rPr sz="825" b="0">
                <a:solidFill>
                  <a:srgbClr val="5F666C"/>
                </a:solidFill>
              </a:rPr>
              <a:t>Use this backup slide only if asked what the model appears to prioritize.</a:t>
            </a:r>
          </a:p>
        </p:txBody>
      </p:sp>
    </p:spTree>
    <p:extLst>
      <p:ext uri="{BB962C8B-B14F-4D97-AF65-F5344CB8AC3E}">
        <p14:creationId xmlns:p14="http://schemas.microsoft.com/office/powerpoint/2010/main" val="1510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B22D81F9-7F30-498D-B8D0-7DDBCE71B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684" b="168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263D20-5A64-49E7-A940-E3BE96AA007F}"/>
              </a:ext>
            </a:extLst>
          </p:cNvPr>
          <p:cNvSpPr>
            <a:spLocks noGrp="1"/>
          </p:cNvSpPr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B5112-B836-43EB-8D5E-53B7590249E1}"/>
              </a:ext>
            </a:extLst>
          </p:cNvPr>
          <p:cNvSpPr>
            <a:spLocks noGrp="1"/>
          </p:cNvSpPr>
          <p:nvPr/>
        </p:nvSpPr>
        <p:spPr>
          <a:xfrm>
            <a:off x="10534650" y="1714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13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E7BF7-E549-4B4C-926C-E4719ABE7FE7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BACKUP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AE66A7-F76C-46ED-BC96-0C766B99DA69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619250" cy="47625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1CF1F-161D-4BFB-856B-73830CBC0B5D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8477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Likely Q&amp;A Topics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F5985-6E13-499C-8EDE-AE12B158B2B7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These are the main limitations and design decisions I expect to be asked about.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A1A678-33E7-435C-827F-6FF375BA3843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4935D-D31A-4A27-872F-3D0DBEA6FB16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FB7B76-F2BB-4992-B94B-F5213F368862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345FC3-C6E8-44DA-AB0E-B73D66216ED0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57150" cy="1143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11B338-ECC3-42C1-B586-FFDED5F7DE33}"/>
              </a:ext>
            </a:extLst>
          </p:cNvPr>
          <p:cNvSpPr>
            <a:spLocks noGrp="1"/>
          </p:cNvSpPr>
          <p:nvPr/>
        </p:nvSpPr>
        <p:spPr>
          <a:xfrm>
            <a:off x="1266825" y="3686175"/>
            <a:ext cx="57150" cy="1905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9F8F8C-6171-43C5-A141-1E9EFB1363FE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57150" cy="257175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C0E191-CA3B-4AE6-A23A-2EB23C161148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Why mobile first?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792EE-0485-4425-8CBC-922C26C72EF3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Because privacy, latency,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deployability are the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course framing, and the app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path is a real native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implementation.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16C20C-3A0A-4AF6-A809-C82017C8B714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005D5-C2E8-4C3A-A031-779840F84574}"/>
              </a:ext>
            </a:extLst>
          </p:cNvPr>
          <p:cNvSpPr>
            <a:spLocks noGrp="1"/>
          </p:cNvSpPr>
          <p:nvPr/>
        </p:nvSpPr>
        <p:spPr>
          <a:xfrm>
            <a:off x="44132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B16B8EA-8B40-4A12-ACCF-71F5D77453E4}"/>
              </a:ext>
            </a:extLst>
          </p:cNvPr>
          <p:cNvSpPr>
            <a:spLocks noGrp="1"/>
          </p:cNvSpPr>
          <p:nvPr/>
        </p:nvSpPr>
        <p:spPr>
          <a:xfrm>
            <a:off x="46228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866743-A519-4CB3-B59D-DEA8E453A734}"/>
              </a:ext>
            </a:extLst>
          </p:cNvPr>
          <p:cNvSpPr>
            <a:spLocks noGrp="1"/>
          </p:cNvSpPr>
          <p:nvPr/>
        </p:nvSpPr>
        <p:spPr>
          <a:xfrm>
            <a:off x="4746625" y="3657600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4B453C-9523-4E3F-AEA8-C2DE0C059336}"/>
              </a:ext>
            </a:extLst>
          </p:cNvPr>
          <p:cNvSpPr>
            <a:spLocks noGrp="1"/>
          </p:cNvSpPr>
          <p:nvPr/>
        </p:nvSpPr>
        <p:spPr>
          <a:xfrm>
            <a:off x="4918075" y="3743325"/>
            <a:ext cx="95250" cy="95250"/>
          </a:xfrm>
          <a:prstGeom prst="ellipse">
            <a:avLst/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BE0BE6-61F9-41F3-88C2-BCE4851A1673}"/>
              </a:ext>
            </a:extLst>
          </p:cNvPr>
          <p:cNvSpPr>
            <a:spLocks noGrp="1"/>
          </p:cNvSpPr>
          <p:nvPr/>
        </p:nvSpPr>
        <p:spPr>
          <a:xfrm>
            <a:off x="4832350" y="3724275"/>
            <a:ext cx="180975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65D7E6-1F92-4DF4-9919-96D3DE708627}"/>
              </a:ext>
            </a:extLst>
          </p:cNvPr>
          <p:cNvSpPr>
            <a:spLocks noGrp="1"/>
          </p:cNvSpPr>
          <p:nvPr/>
        </p:nvSpPr>
        <p:spPr>
          <a:xfrm>
            <a:off x="52514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Why not claim strong ML?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4650AC-37F5-41FE-B1DE-36A4C862053F}"/>
              </a:ext>
            </a:extLst>
          </p:cNvPr>
          <p:cNvSpPr>
            <a:spLocks noGrp="1"/>
          </p:cNvSpPr>
          <p:nvPr/>
        </p:nvSpPr>
        <p:spPr>
          <a:xfrm>
            <a:off x="46418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dataset covers 359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nights with subjective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labels, so the performance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should be treated as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exploratory.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4CE0AC-BF31-4CCB-A06E-A58A9B96847A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3365500" cy="2247900"/>
          </a:xfrm>
          <a:prstGeom prst="roundRect">
            <a:avLst>
              <a:gd name="adj" fmla="val 3390"/>
            </a:avLst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1AE541-8C33-48A8-B709-4318E2F29963}"/>
              </a:ext>
            </a:extLst>
          </p:cNvPr>
          <p:cNvSpPr>
            <a:spLocks noGrp="1"/>
          </p:cNvSpPr>
          <p:nvPr/>
        </p:nvSpPr>
        <p:spPr>
          <a:xfrm>
            <a:off x="8007350" y="3257550"/>
            <a:ext cx="76200" cy="2247900"/>
          </a:xfrm>
          <a:prstGeom prst="rect">
            <a:avLst/>
          </a:prstGeom>
          <a:solidFill>
            <a:srgbClr val="0066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FCD47F-CE8B-43EE-B0BD-4CEC3F0E20CD}"/>
              </a:ext>
            </a:extLst>
          </p:cNvPr>
          <p:cNvSpPr>
            <a:spLocks noGrp="1"/>
          </p:cNvSpPr>
          <p:nvPr/>
        </p:nvSpPr>
        <p:spPr>
          <a:xfrm>
            <a:off x="8216900" y="3486150"/>
            <a:ext cx="514350" cy="514350"/>
          </a:xfrm>
          <a:prstGeom prst="ellipse">
            <a:avLst/>
          </a:prstGeom>
          <a:solidFill>
            <a:srgbClr val="FFFFFF">
              <a:alpha val="94902"/>
            </a:srgbClr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D25A270-E7AD-444D-8E5D-A04CB36B10E4}"/>
              </a:ext>
            </a:extLst>
          </p:cNvPr>
          <p:cNvSpPr>
            <a:spLocks noGrp="1"/>
          </p:cNvSpPr>
          <p:nvPr/>
        </p:nvSpPr>
        <p:spPr>
          <a:xfrm>
            <a:off x="8340725" y="36290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0066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7FAF31-0208-49A7-96A6-EB57ECBB784A}"/>
              </a:ext>
            </a:extLst>
          </p:cNvPr>
          <p:cNvSpPr>
            <a:spLocks noGrp="1"/>
          </p:cNvSpPr>
          <p:nvPr/>
        </p:nvSpPr>
        <p:spPr>
          <a:xfrm>
            <a:off x="8388350" y="37147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FCC33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BA82104-025A-49E1-93DA-3678A9EE3FBC}"/>
              </a:ext>
            </a:extLst>
          </p:cNvPr>
          <p:cNvSpPr>
            <a:spLocks noGrp="1"/>
          </p:cNvSpPr>
          <p:nvPr/>
        </p:nvSpPr>
        <p:spPr>
          <a:xfrm>
            <a:off x="8435975" y="38004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B38700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EEFA68-5C73-4D10-8746-7F5A0F8CAAF0}"/>
              </a:ext>
            </a:extLst>
          </p:cNvPr>
          <p:cNvSpPr>
            <a:spLocks noGrp="1"/>
          </p:cNvSpPr>
          <p:nvPr/>
        </p:nvSpPr>
        <p:spPr>
          <a:xfrm>
            <a:off x="8845550" y="3467100"/>
            <a:ext cx="233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What improves this next?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F5ECEC-F3A2-4C95-9931-05434E5D9A22}"/>
              </a:ext>
            </a:extLst>
          </p:cNvPr>
          <p:cNvSpPr>
            <a:spLocks noGrp="1"/>
          </p:cNvSpPr>
          <p:nvPr/>
        </p:nvSpPr>
        <p:spPr>
          <a:xfrm>
            <a:off x="8235950" y="4076700"/>
            <a:ext cx="2908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More participant data,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missing-sensor robustness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tests, and real device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memory and battery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measurements.</a:t>
            </a:r>
          </a:p>
        </p:txBody>
      </p:sp>
    </p:spTree>
    <p:extLst>
      <p:ext uri="{BB962C8B-B14F-4D97-AF65-F5344CB8AC3E}">
        <p14:creationId xmlns:p14="http://schemas.microsoft.com/office/powerpoint/2010/main" val="547012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Microsoft Macintosh PowerPoint</Application>
  <DocSecurity>0</DocSecurity>
  <PresentationFormat>Widescreen</PresentationFormat>
  <Paragraphs>314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Pratik Patil</cp:lastModifiedBy>
  <cp:revision>1</cp:revision>
  <dcterms:created xsi:type="dcterms:W3CDTF">2026-04-23T00:57:40Z</dcterms:created>
  <dcterms:modified xsi:type="dcterms:W3CDTF">2026-04-23T02:01:43Z</dcterms:modified>
</cp:coreProperties>
</file>