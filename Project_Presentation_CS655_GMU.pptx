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6" r:id="rId5"/>
    <p:sldMasterId id="2147483668" r:id="rId6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01"/>
    <p:restoredTop sz="96405"/>
  </p:normalViewPr>
  <p:slideViewPr>
    <p:cSldViewPr snapToGrid="0">
      <p:cViewPr varScale="1">
        <p:scale>
          <a:sx n="94" d="100"/>
          <a:sy n="94" d="100"/>
        </p:scale>
        <p:origin x="224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99EF1-A9A1-0142-A435-D6CF67BE6D8C}" type="datetimeFigureOut">
              <a:rPr lang="en-US" smtClean="0"/>
              <a:t>4/23/24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17D8E3-4DED-884B-B60B-A5855D3C8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28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problem and course framing.</a:t>
            </a:r>
          </a:p>
          <a:p>
            <a:r>
              <a:t>Likely question: Why mobile-first?</a:t>
            </a:r>
          </a:p>
          <a:p>
            <a:r>
              <a:t>Answer: CS655 emphasizes sensing + deployment realism, so on-device path is primary.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show intentional rubric-first organization.</a:t>
            </a:r>
          </a:p>
          <a:p>
            <a:r>
              <a:t>Likely question: Do we cover all categories?</a:t>
            </a:r>
          </a:p>
          <a:p>
            <a:r>
              <a:t>Answer: Yes, each has explicit slide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real user impact to privacy and feasibility.</a:t>
            </a:r>
          </a:p>
          <a:p>
            <a:r>
              <a:t>Likely question: Why not cloud?</a:t>
            </a:r>
          </a:p>
          <a:p>
            <a:r>
              <a:t>Answer: on-device inference reduces data exposure and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this work relative to literature without overclaiming novelty.</a:t>
            </a:r>
          </a:p>
          <a:p>
            <a:r>
              <a:t>Likely question: What is our gap target?</a:t>
            </a:r>
          </a:p>
          <a:p>
            <a:r>
              <a:t>Answer: subjective fatigue with real HealthKit + edge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pipeline left-to-right.</a:t>
            </a:r>
          </a:p>
          <a:p>
            <a:r>
              <a:t>Likely question: Where is training done?</a:t>
            </a:r>
          </a:p>
          <a:p>
            <a:r>
              <a:t>Answer: offline in Python; inference is on-device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implementation-focused (not model-tuning-focused).</a:t>
            </a:r>
          </a:p>
          <a:p>
            <a:r>
              <a:t>Likely question: What happens with missing data?</a:t>
            </a:r>
          </a:p>
          <a:p>
            <a:r>
              <a:t>Answer: robust imputation keeps inference runnable.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leakage-aware temporal split for realism.</a:t>
            </a:r>
          </a:p>
          <a:p>
            <a:r>
              <a:t>Likely question: Why not random CV?</a:t>
            </a:r>
          </a:p>
          <a:p>
            <a:r>
              <a:t>Answer: avoids future-to-past leakage in time-dependent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both snapshots transparently with context.</a:t>
            </a:r>
          </a:p>
          <a:p>
            <a:r>
              <a:t>Likely question: Which number is final?</a:t>
            </a:r>
          </a:p>
          <a:p>
            <a:r>
              <a:t>Answer: both are valid snapshots from different project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this as your grading-time execution checklist.</a:t>
            </a:r>
          </a:p>
          <a:p>
            <a:r>
              <a:t>Likely question: Why fallback?</a:t>
            </a:r>
          </a:p>
          <a:p>
            <a:r>
              <a:t>Answer: demo continuity while still explaining real-device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honest scope and practical engineering value.</a:t>
            </a:r>
          </a:p>
          <a:p>
            <a:r>
              <a:t>Likely question: Is this clinically ready?</a:t>
            </a:r>
          </a:p>
          <a:p>
            <a:r>
              <a:t>Answer: no; it is a non-clinical exploratory CS655 system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Q&amp;A on why the model predicts fatigue in certain cases.</a:t>
            </a:r>
          </a:p>
          <a:p>
            <a:r>
              <a:t>Likely question: Are these causal findings?</a:t>
            </a:r>
          </a:p>
          <a:p>
            <a:r>
              <a:t>Answer: no, only associative within this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answers concise and evidence-based.</a:t>
            </a:r>
          </a:p>
          <a:p>
            <a:r>
              <a:t>If asked to prioritize, always return to mobile/wearable systems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80765E-9E46-F923-4537-881F829F0E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b="19027"/>
          <a:stretch/>
        </p:blipFill>
        <p:spPr>
          <a:xfrm>
            <a:off x="4902150" y="-674203"/>
            <a:ext cx="7694778" cy="83541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649688-59E7-1703-6239-C6E17422C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9481" y="3697149"/>
            <a:ext cx="7604864" cy="138053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E2DF3-20B9-5FE4-78BC-2A84C112A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796" y="5412912"/>
            <a:ext cx="3342354" cy="146451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587E38-3EC4-A044-D625-EEAF1E6EC0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5061" y="1197215"/>
            <a:ext cx="5899299" cy="19814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3E1F77-3976-FC07-D6FA-5715ADAF14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63982" y="3502855"/>
            <a:ext cx="5932940" cy="70057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758EA4-EA94-F72F-4C37-A2D336BDE9F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54906" y="5412912"/>
            <a:ext cx="651267" cy="65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8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430F-5A5E-5D4B-4BC7-88428953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327C-9D0F-B15E-C5AE-0B4402F1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66" y="1952234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6B8F-F397-B870-64C7-260815F6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0838536" y="5052805"/>
            <a:ext cx="2095133" cy="406400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960-F59B-CF95-3858-F7F56D5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2902" y="6356350"/>
            <a:ext cx="4064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FE883-4AC6-394B-8129-6E4BB686DB2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460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95F78E-F4A5-005F-D143-98D0ABF950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097" t="73191" r="26779"/>
          <a:stretch/>
        </p:blipFill>
        <p:spPr>
          <a:xfrm>
            <a:off x="5956300" y="-2875"/>
            <a:ext cx="2400300" cy="757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2F6515-D6D6-585C-70C8-97944CAA70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100" t="-3420" r="27678" b="5864"/>
          <a:stretch/>
        </p:blipFill>
        <p:spPr>
          <a:xfrm>
            <a:off x="11019637" y="5562599"/>
            <a:ext cx="11723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4430F-5A5E-5D4B-4BC7-884289535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0" y="890886"/>
            <a:ext cx="46863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327C-9D0F-B15E-C5AE-0B4402F1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6B8F-F397-B870-64C7-260815F6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260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960-F59B-CF95-3858-F7F56D5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4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FE883-4AC6-394B-8129-6E4BB686DB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07B2B8-372A-822A-3B45-E45E06B6D5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39000" y="2489201"/>
            <a:ext cx="4686300" cy="350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1333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7B771-CD45-205F-806A-81678839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800" y="2503174"/>
            <a:ext cx="4819650" cy="1267453"/>
          </a:xfrm>
        </p:spPr>
        <p:txBody>
          <a:bodyPr anchor="b">
            <a:normAutofit/>
          </a:bodyPr>
          <a:lstStyle>
            <a:lvl1pPr algn="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E9AFD-F871-6540-2115-DB916F644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7800" y="3797615"/>
            <a:ext cx="4819650" cy="1500187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D1F781-F4CE-AC60-F115-80945A7AEA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6365" r="1479"/>
          <a:stretch/>
        </p:blipFill>
        <p:spPr>
          <a:xfrm>
            <a:off x="-1435100" y="419100"/>
            <a:ext cx="8085811" cy="698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56F55E-839E-3694-5C2F-4668203B2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61300" y="276893"/>
            <a:ext cx="3773552" cy="126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42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2701-4420-72DC-D9FF-898684F72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696297-FA0A-C43E-7108-817161C6E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60C57-4A3B-2719-81CA-09B73DA6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4967F-2382-1D42-B474-ED4C6215D2E3}" type="datetimeFigureOut">
              <a:rPr lang="en-US" smtClean="0"/>
              <a:t>4/23/24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5C47A-F876-ED35-DAE5-3572E811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924CA-7BF3-D294-A28C-08A9A0606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6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A5C8A-0B8F-489F-EE46-BC751895B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B6E7A-928B-AFFC-58EB-DDF90F805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2C910-FE19-34A9-89EC-61EEDA4E4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4967F-2382-1D42-B474-ED4C6215D2E3}" type="datetimeFigureOut">
              <a:rPr lang="en-US" smtClean="0"/>
              <a:t>4/23/24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EFA6F-EE9F-1222-61BB-6CA64CF7F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23EB0-73EB-A669-40D8-A7BDD08F1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13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1FFF6-7C3E-B82E-BAD3-3DE14A8ED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0A6E4-035E-A278-7C29-F7C19E8BA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13EDC-550D-793C-1A85-3455C9C4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4967F-2382-1D42-B474-ED4C6215D2E3}" type="datetimeFigureOut">
              <a:rPr lang="en-US" smtClean="0"/>
              <a:t>4/23/24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158A0-98A6-F425-07F8-AD2416B3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59031-28CA-0A3A-FA4D-0C74C339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17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A442C-E7A1-4B84-D829-7CCFAC8C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7A649-0420-A710-F725-C76CCE0D6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D3817-238F-3DE7-81A5-734A9291E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0E521-970C-0A16-339D-01F543C2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4967F-2382-1D42-B474-ED4C6215D2E3}" type="datetimeFigureOut">
              <a:rPr lang="en-US" smtClean="0"/>
              <a:t>4/23/24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00133-5DFD-4E8F-78F2-20C8E60D5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ABD90-E5A5-8AFE-AF68-645F771A0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00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AE022-1263-0F86-3BCE-C134CAA19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018F2-F8CE-4B78-5B33-7B7C6A5CD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CAB54-FA9D-256B-6B70-DB2FF3755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68D39D-2C9E-8BEC-F41A-E542FDBE8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114F0C-49C8-852E-937E-1CED58824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36C534-DF33-C872-B51D-C6C81045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4967F-2382-1D42-B474-ED4C6215D2E3}" type="datetimeFigureOut">
              <a:rPr lang="en-US" smtClean="0"/>
              <a:t>4/23/24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D48419-26EC-1F6C-06ED-4FEDEEA9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8E161C-F9A4-9A91-4F1C-965605687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57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7F527-C9C4-3AE9-1AB6-0A92543C6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A292B-FD17-3482-0ADF-55B3DEAB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4967F-2382-1D42-B474-ED4C6215D2E3}" type="datetimeFigureOut">
              <a:rPr lang="en-US" smtClean="0"/>
              <a:t>4/23/24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C4CFF4-32C3-E17B-C4D7-7A0CF58DE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2BFF3-9C13-EF99-0729-5CAD7C9A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74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F96DED-A25F-6860-FA29-8B5A8C881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4967F-2382-1D42-B474-ED4C6215D2E3}" type="datetimeFigureOut">
              <a:rPr lang="en-US" smtClean="0"/>
              <a:t>4/23/24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70275C-7907-9F15-85B5-70FBD7271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1B68D-9337-DF5E-FDE3-D260CF6E7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1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E3C2B-45CE-B511-13E2-9DAE79A84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0148-A2A9-0799-F4F7-18017CE84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FB31A-DA89-95E7-AB08-ECC256F19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7533F-7C4E-022F-1503-9303E85D6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4967F-2382-1D42-B474-ED4C6215D2E3}" type="datetimeFigureOut">
              <a:rPr lang="en-US" smtClean="0"/>
              <a:t>4/23/24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0BDBA-F83C-B51D-3180-D13C4E39E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3C8B5-4C34-EC01-EB6E-5BF3EB0D2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65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A3A86-0B7B-9417-206C-8023301A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AB53F-53C6-9A50-564C-B9B09AEED9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ADB9C-BE4B-90D1-43B5-0B304E9FB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02F0E-CB70-B6CB-0280-2E396AB8B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4967F-2382-1D42-B474-ED4C6215D2E3}" type="datetimeFigureOut">
              <a:rPr lang="en-US" smtClean="0"/>
              <a:t>4/23/24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C533A-08B0-58EA-9AD7-A3F8B324F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6A372-BDCD-A7E2-5A4F-E62DC39F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73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0EBD8-E926-E742-3B9A-FB7253CBC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357F9-DC12-94D1-6A8F-A398E6061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E06DF-5858-0C46-6785-091247830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4967F-2382-1D42-B474-ED4C6215D2E3}" type="datetimeFigureOut">
              <a:rPr lang="en-US" smtClean="0"/>
              <a:t>4/23/24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65DCB-E870-DEF5-349E-FB0C17002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E2825-6709-2936-5F16-188693E21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838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190BBB-294E-EA0B-4584-034FA002C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2A05C-F0E4-B4A7-DC39-EB2E7568F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83312-CA81-4776-9938-673810277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4967F-2382-1D42-B474-ED4C6215D2E3}" type="datetimeFigureOut">
              <a:rPr lang="en-US" smtClean="0"/>
              <a:t>4/23/24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87C54-F5DE-248C-FC2C-5BB73F76D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72711-175A-0A82-C452-816AAB8F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97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7F74-E65C-984E-FFFB-9873BF052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7072B-1A48-E8CC-BA32-C6C0F54A3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6E196-C6A3-D45C-AE7F-358CCC011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5D5C6-F7A1-5D44-B216-FA90FD5DD46C}" type="datetimeFigureOut">
              <a:rPr lang="en-US" smtClean="0"/>
              <a:t>4/23/24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0C394-B57F-0355-CCFD-984B2FE1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E2EA4-D9C9-6654-B8BA-1C0338864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569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867D-53A7-E375-1117-1A31A9D52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13F4-D2B2-F0E3-ECBA-F3DC31E94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8344E-33BD-ECDF-B54C-D24955940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5D5C6-F7A1-5D44-B216-FA90FD5DD46C}" type="datetimeFigureOut">
              <a:rPr lang="en-US" smtClean="0"/>
              <a:t>4/23/24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3BA72-D85A-09D5-0600-DA0ADB549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2EF3A-9F15-3C46-FFFB-022261A7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5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438D-15AB-1384-01DA-DBC840025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BF7F2-D1ED-7EA7-354A-565D52FF4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E1DCA-88C9-4457-D10B-A94EB9AD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5D5C6-F7A1-5D44-B216-FA90FD5DD46C}" type="datetimeFigureOut">
              <a:rPr lang="en-US" smtClean="0"/>
              <a:t>4/23/24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4F4D0-A1CD-2FEC-7FE5-3EFEA82E3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13ACB-3D51-C021-380A-422741CC0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733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998A7-CA9A-1FEB-D37F-86B06EC6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477CC-EB3F-8190-5A4C-65AE4E397D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5C47D-3BE5-48D2-EE39-FCF231842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493D8-52FD-639F-7179-FFC6FA0DD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5D5C6-F7A1-5D44-B216-FA90FD5DD46C}" type="datetimeFigureOut">
              <a:rPr lang="en-US" smtClean="0"/>
              <a:t>4/23/24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36B6A-9301-ABDB-03CF-23ADF7F0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E4F21-C24C-D131-6D7F-52B80594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631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4D842-A184-D34E-83A3-7939A51F2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88A4F-A689-1A7A-CAA8-4068B47FD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3E650-B706-5DEB-EE7A-90F3218CF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9BED9-8399-658E-9C06-CE1A6A009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063B30-E962-04B2-019E-17B9C7A4E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8B6CFA-AA84-B957-4789-8CE9BB158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5D5C6-F7A1-5D44-B216-FA90FD5DD46C}" type="datetimeFigureOut">
              <a:rPr lang="en-US" smtClean="0"/>
              <a:t>4/23/24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2B9A4-0BCD-4078-27F1-CE03080C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B652E3-0273-69D9-07C6-940891B92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040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1E62D-DDB5-965C-61E2-C64BE73C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E61465-2D74-BA61-3A96-9F2CCD6A7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5D5C6-F7A1-5D44-B216-FA90FD5DD46C}" type="datetimeFigureOut">
              <a:rPr lang="en-US" smtClean="0"/>
              <a:t>4/23/24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54FB0-75C8-BAB0-E08F-5597C745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EBFBCC-94A9-E98E-22C3-CC3862648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721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4318E-3FAE-E6CF-52C8-A5357EEE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5D5C6-F7A1-5D44-B216-FA90FD5DD46C}" type="datetimeFigureOut">
              <a:rPr lang="en-US" smtClean="0"/>
              <a:t>4/23/24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B0A48F-0238-53D6-2204-E5B225E25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E8633-0444-E110-E633-38AC564D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919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3B09-7850-228A-25AC-33C768D9D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54079-0291-2553-0325-367A18140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8713B-4F7B-73A8-AC88-08F4E4338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00650-DD85-EA5B-AC1C-BD0EA4C57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5D5C6-F7A1-5D44-B216-FA90FD5DD46C}" type="datetimeFigureOut">
              <a:rPr lang="en-US" smtClean="0"/>
              <a:t>4/23/24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F2E68-5EFE-4521-37C9-0D2D2A5F1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79F28-1FD0-F39C-054C-149BB573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793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2600-E7F7-0A7C-3F48-7DC437608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1D641E-C182-AA2F-BDCE-515CDD073D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BA398-7343-A78C-5E87-2861D8733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3B96A-4338-90F4-C630-4B1D3B913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5D5C6-F7A1-5D44-B216-FA90FD5DD46C}" type="datetimeFigureOut">
              <a:rPr lang="en-US" smtClean="0"/>
              <a:t>4/23/24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99B5F-56F1-C929-633A-316982F9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0F7B3-C312-29B8-3DC6-506DD032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2196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08239-20ED-83C2-5E94-937A1AD96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B3D5DE-5127-38D3-6E89-B9D722EC2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445D7-6DAD-B423-C661-09989B9F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5D5C6-F7A1-5D44-B216-FA90FD5DD46C}" type="datetimeFigureOut">
              <a:rPr lang="en-US" smtClean="0"/>
              <a:t>4/23/24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203D-59EC-5FB7-5C4E-181DE2DC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D749D-FD83-7F6C-FA44-FEFB64867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575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3154B-5C96-2E9F-D96C-FB3E0FD93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5D171-DBA8-3F47-FB05-D4B0DD2C7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BBFC7-FA2F-62E6-4063-B8016AC95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5D5C6-F7A1-5D44-B216-FA90FD5DD46C}" type="datetimeFigureOut">
              <a:rPr lang="en-US" smtClean="0"/>
              <a:t>4/23/24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08E5F-665E-DCDF-E602-9A5066D3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BF30F-B402-482F-1090-52983BFFE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013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DD871-3B5C-C6B1-86B7-BAD5C9E02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15E8F-94C3-DEA7-72D7-43D974A55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33BC0-FF84-DF07-2D03-812433C8C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F68AE-1121-E34D-AB43-7EFA01D82E5E}" type="datetimeFigureOut">
              <a:rPr lang="en-US" smtClean="0"/>
              <a:t>4/23/24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04D14-8F6B-6828-E58B-9590E68C8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5504E-6E70-6ECE-79C3-BCDDE83ED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7711" y="6356350"/>
            <a:ext cx="5873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FE883-4AC6-394B-8129-6E4BB686DB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47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5914E-B12D-A7B0-5FD9-797382E1C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6845E-D9F9-8BDF-C840-02AB94A46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0E1BE-A7B7-ED17-1838-DBB3F4671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4967F-2382-1D42-B474-ED4C6215D2E3}" type="datetimeFigureOut">
              <a:rPr lang="en-US" smtClean="0"/>
              <a:t>4/23/24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85862-84FD-CE9D-9FE7-4D2339447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53032-999A-FB0D-8D6A-9372F506D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9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29900-2ACA-4B92-0E1A-06DA734F9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FEAE7-C0FC-3C7F-593D-72FA7D103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F4F41-5353-39BA-3414-85A2A531C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5D5C6-F7A1-5D44-B216-FA90FD5DD46C}" type="datetimeFigureOut">
              <a:rPr lang="en-US" smtClean="0"/>
              <a:t>4/23/24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26262-21EF-79AE-4E83-5A1E4D0B13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5C12F-C386-8200-06E7-EF5A40CF0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93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Mobile-First Fatigue Prediction on Apple Health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CS655 Wearable Computing Project</a:t>
            </a:r>
          </a:p>
          <a:p>
            <a:r>
              <a:t>Team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Rubric Alignment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332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Rubric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Where Covered in This Deck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Understanding of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Slides 3-5: motivation, related work, architecture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Technical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Slides 6-8: implementation details and exact metrics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Critical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Slides 8, 10, 12: dual snapshots, limits, Q&amp;A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Organization and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Slides 1-2 roadmap + Slide 9 demo script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Visual aids and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Figures + concise notes + backup slides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Motivation: Why This Problem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Fatigue impacts focus, reaction time, and daily productivity.</a:t>
            </a:r>
          </a:p>
          <a:p>
            <a:pPr>
              <a:defRPr sz="2400"/>
            </a:pPr>
            <a:r>
              <a:t>Apple Watch/iPhone collect useful nightly and vital signals already.</a:t>
            </a:r>
          </a:p>
          <a:p>
            <a:pPr>
              <a:defRPr sz="2400"/>
            </a:pPr>
            <a:r>
              <a:t>Cloud-first prediction raises privacy risk for sensitive biometrics.</a:t>
            </a:r>
          </a:p>
          <a:p>
            <a:pPr>
              <a:defRPr sz="2400"/>
            </a:pPr>
            <a:r>
              <a:t>Goal: practical, local prediction on personal mobile devices.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and 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Actigraphy and HRV studies inform sleep/readiness modeling.</a:t>
            </a:r>
          </a:p>
          <a:p>
            <a:pPr>
              <a:defRPr sz="2400"/>
            </a:pPr>
            <a:r>
              <a:t>Most prior work focuses on sleep stages, not subjective fatigue.</a:t>
            </a:r>
          </a:p>
          <a:p>
            <a:pPr>
              <a:defRPr sz="2400"/>
            </a:pPr>
            <a:r>
              <a:t>Wearable data are noisy; labels are subjective and person-specific.</a:t>
            </a:r>
          </a:p>
          <a:p>
            <a:pPr>
              <a:defRPr sz="2400"/>
            </a:pPr>
            <a:r>
              <a:t>Edge AI motivates compact, interpretable models for phones.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(Mobile-First)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HealthKit/Watch data -&gt; nightly feature aggregation on phone.</a:t>
            </a:r>
          </a:p>
          <a:p>
            <a:pPr>
              <a:defRPr sz="2400"/>
            </a:pPr>
            <a:r>
              <a:t>Offline training exports compact JSON model contract.</a:t>
            </a:r>
          </a:p>
          <a:p>
            <a:pPr>
              <a:defRPr sz="2400"/>
            </a:pPr>
            <a:r>
              <a:t>iOS app loads contract and runs local inference (no cloud).</a:t>
            </a:r>
          </a:p>
          <a:p>
            <a:pPr>
              <a:defRPr sz="2400"/>
            </a:pPr>
            <a:r>
              <a:t>UI presents prediction, confidence, readiness, and trend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Solution: iOS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HealthKitManager handles permissions, queries, and data readiness.</a:t>
            </a:r>
          </a:p>
          <a:p>
            <a:pPr>
              <a:defRPr sz="2400"/>
            </a:pPr>
            <a:r>
              <a:t>FatigueModel loads contract, imputes missing fields, predicts locally.</a:t>
            </a:r>
          </a:p>
          <a:p>
            <a:pPr>
              <a:defRPr sz="2400"/>
            </a:pPr>
            <a:r>
              <a:t>ContentView supports Fetch+Predict and 7-night trend flow.</a:t>
            </a:r>
          </a:p>
          <a:p>
            <a:pPr>
              <a:defRPr sz="2400"/>
            </a:pPr>
            <a:r>
              <a:t>Simulator validates UI/demo mode; real HealthKit requires iPhone.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Dataset: 359 nights with binary subjective fatigue labels.</a:t>
            </a:r>
          </a:p>
          <a:p>
            <a:pPr>
              <a:defRPr sz="2400"/>
            </a:pPr>
            <a:r>
              <a:t>Split: deterministic chronological 70/30 (251 train, 108 test).</a:t>
            </a:r>
          </a:p>
          <a:p>
            <a:pPr>
              <a:defRPr sz="2400"/>
            </a:pPr>
            <a:r>
              <a:t>Metrics: accuracy, weighted F1, confusion matrix.</a:t>
            </a:r>
          </a:p>
          <a:p>
            <a:pPr>
              <a:defRPr sz="2400"/>
            </a:pPr>
            <a:r>
              <a:t>Mobile metrics: model size and single-prediction latency.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Two Snapshots, Honest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Report snapshot: RF ~0.51 F1, ~52% accuracy (time split).</a:t>
            </a:r>
          </a:p>
          <a:p>
            <a:pPr>
              <a:defRPr sz="2200"/>
            </a:pPr>
            <a:r>
              <a:t>Latest mobile artifact: SGD ~0.4906 F1, ~49.07% accuracy.</a:t>
            </a:r>
          </a:p>
          <a:p>
            <a:pPr>
              <a:defRPr sz="2200"/>
            </a:pPr>
            <a:r>
              <a:t>On-device profile: ~10.55 KB model, p95 ~5.62 ms.</a:t>
            </a:r>
          </a:p>
          <a:p>
            <a:pPr>
              <a:defRPr sz="2200"/>
            </a:pPr>
            <a:r>
              <a:t>Takeaway: mobile viability is strong; predictive quality is early-stage.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874519"/>
            <a:ext cx="45720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53949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Figure: Confusion matrix from report artifacts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Device Demo Plan + Realistic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1) Request Health access (sleep + vitals).</a:t>
            </a:r>
          </a:p>
          <a:p>
            <a:pPr>
              <a:defRPr sz="2400"/>
            </a:pPr>
            <a:r>
              <a:t>2) Tap Fetch + Predict to run local inference.</a:t>
            </a:r>
          </a:p>
          <a:p>
            <a:pPr>
              <a:defRPr sz="2400"/>
            </a:pPr>
            <a:r>
              <a:t>3) Open Last 7 Nights trend and discuss readiness state.</a:t>
            </a:r>
          </a:p>
          <a:p>
            <a:pPr>
              <a:defRPr sz="2400"/>
            </a:pPr>
            <a:r>
              <a:t>Fallback: if live fetch fails, use simulator demo-data path.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Primary contribution: end-to-end mobile/wearable system integration.</a:t>
            </a:r>
          </a:p>
          <a:p>
            <a:pPr>
              <a:defRPr sz="2400"/>
            </a:pPr>
            <a:r>
              <a:t>Inference is local and privacy-preserving by design.</a:t>
            </a:r>
          </a:p>
          <a:p>
            <a:pPr>
              <a:defRPr sz="2400"/>
            </a:pPr>
            <a:r>
              <a:t>Current ML performance is exploratory, not benchmark-level.</a:t>
            </a:r>
          </a:p>
          <a:p>
            <a:pPr>
              <a:defRPr sz="2400"/>
            </a:pPr>
            <a:r>
              <a:t>Next: stronger personalization and larger real-device datasets.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[Backup] A1: Feature Importance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Rolling activity features are prominent in this snapshot.</a:t>
            </a:r>
          </a:p>
          <a:p>
            <a:pPr>
              <a:defRPr sz="2200"/>
            </a:pPr>
            <a:r>
              <a:t>Pattern suggests cumulative exertion influences fatigue.</a:t>
            </a:r>
          </a:p>
          <a:p>
            <a:pPr>
              <a:defRPr sz="2200"/>
            </a:pPr>
            <a:r>
              <a:t>Interpretation is exploratory and dataset-specific.</a:t>
            </a:r>
          </a:p>
          <a:p>
            <a:pPr>
              <a:defRPr sz="2200"/>
            </a:pPr>
            <a:r>
              <a:t>Use this slide when asked about model interpretability.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874519"/>
            <a:ext cx="45720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53949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Figure: Feature importance from report artifacts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[Backup] A2: Q&amp;A Prep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Why mobile-first? -&gt; Course scope + privacy + deployment realism.</a:t>
            </a:r>
          </a:p>
          <a:p>
            <a:pPr>
              <a:defRPr sz="2400"/>
            </a:pPr>
            <a:r>
              <a:t>Why modest F1? -&gt; Small noisy subjective labels + hard target.</a:t>
            </a:r>
          </a:p>
          <a:p>
            <a:pPr>
              <a:defRPr sz="2400"/>
            </a:pPr>
            <a:r>
              <a:t>Is privacy real? -&gt; No cloud inference required for prediction.</a:t>
            </a:r>
          </a:p>
          <a:p>
            <a:pPr>
              <a:defRPr sz="2400"/>
            </a:pPr>
            <a:r>
              <a:t>What next? -&gt; More history, personalization, broader data collection.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rgbClr val="000000"/>
      </a:dk1>
      <a:lt1>
        <a:srgbClr val="FFFFFF"/>
      </a:lt1>
      <a:dk2>
        <a:srgbClr val="005138"/>
      </a:dk2>
      <a:lt2>
        <a:srgbClr val="E7E6E6"/>
      </a:lt2>
      <a:accent1>
        <a:srgbClr val="FFC733"/>
      </a:accent1>
      <a:accent2>
        <a:srgbClr val="33333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A2B41577934F4998EE62E59EF2A575" ma:contentTypeVersion="18" ma:contentTypeDescription="Create a new document." ma:contentTypeScope="" ma:versionID="08ed6abe202d22a7564eaf9401bbbea6">
  <xsd:schema xmlns:xsd="http://www.w3.org/2001/XMLSchema" xmlns:xs="http://www.w3.org/2001/XMLSchema" xmlns:p="http://schemas.microsoft.com/office/2006/metadata/properties" xmlns:ns2="bd144688-6247-4621-b542-e085c4240526" xmlns:ns3="addbd1f7-a2a8-49dd-abab-7ee8146c6af2" targetNamespace="http://schemas.microsoft.com/office/2006/metadata/properties" ma:root="true" ma:fieldsID="54c0121c81c00630fff12fba9229494e" ns2:_="" ns3:_="">
    <xsd:import namespace="bd144688-6247-4621-b542-e085c4240526"/>
    <xsd:import namespace="addbd1f7-a2a8-49dd-abab-7ee8146c6a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144688-6247-4621-b542-e085c42405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6c1bbba-1a2d-496b-84ee-32d9150662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dbd1f7-a2a8-49dd-abab-7ee8146c6af2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519e31e-9dbf-42dd-9b81-5a40feeeeda2}" ma:internalName="TaxCatchAll" ma:showField="CatchAllData" ma:web="addbd1f7-a2a8-49dd-abab-7ee8146c6a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ddbd1f7-a2a8-49dd-abab-7ee8146c6af2" xsi:nil="true"/>
    <lcf76f155ced4ddcb4097134ff3c332f xmlns="bd144688-6247-4621-b542-e085c424052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282FB56-C8D1-417A-A82B-CCDC8771C3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144688-6247-4621-b542-e085c4240526"/>
    <ds:schemaRef ds:uri="addbd1f7-a2a8-49dd-abab-7ee8146c6a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E4B866-3963-435A-98E6-72B22C6A86A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238F92-D426-4BEE-805A-F80178872645}">
  <ds:schemaRefs>
    <ds:schemaRef ds:uri="http://www.w3.org/XML/1998/namespace"/>
    <ds:schemaRef ds:uri="bd144688-6247-4621-b542-e085c4240526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addbd1f7-a2a8-49dd-abab-7ee8146c6af2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</Words>
  <Application>Microsoft Macintosh PowerPoint</Application>
  <PresentationFormat>Widescreen</PresentationFormat>
  <Paragraphs>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Calibri Light</vt:lpstr>
      <vt:lpstr>Franklin Gothic Book</vt:lpstr>
      <vt:lpstr>Franklin Gothic Medium</vt:lpstr>
      <vt:lpstr>Office Theme</vt:lpstr>
      <vt:lpstr>Custom Design</vt:lpstr>
      <vt:lpstr>1_Custom Design</vt:lpstr>
      <vt:lpstr>PowerPoint Presentation</vt:lpstr>
      <vt:lpstr>Title goes here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Claire Brandt</dc:creator>
  <cp:lastModifiedBy>Audra Meckstroth</cp:lastModifiedBy>
  <cp:revision>4</cp:revision>
  <dcterms:created xsi:type="dcterms:W3CDTF">2024-04-18T20:24:44Z</dcterms:created>
  <dcterms:modified xsi:type="dcterms:W3CDTF">2024-04-23T18:39:54Z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0x01010063BEF54C2EDBAD42ABA6D2B17A8AA352</vt:lpwstr>
  </property>
</Properties>
</file>