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97616370a0488c" /><Relationship Type="http://schemas.openxmlformats.org/officeDocument/2006/relationships/extended-properties" Target="/docProps/app.xml" Id="Rcf47fd8e8a02409f" /><Relationship Type="http://schemas.openxmlformats.org/officeDocument/2006/relationships/officeDocument" Target="/ppt/presentation.xml" Id="R13cb387859b740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5cc930ac814964"/>
  </p:sldMasterIdLst>
  <p:notesMasterIdLst>
    <p:notesMasterId xmlns:r="http://schemas.openxmlformats.org/officeDocument/2006/relationships" r:id="Rccd4edbd87ed4501"/>
  </p:notesMasterIdLst>
  <p:sldIdLst>
    <p:sldId xmlns:r="http://schemas.openxmlformats.org/officeDocument/2006/relationships" id="256" r:id="R2a55aa5572b240e9"/>
    <p:sldId xmlns:r="http://schemas.openxmlformats.org/officeDocument/2006/relationships" id="257" r:id="R391f0838958c4b1c"/>
    <p:sldId xmlns:r="http://schemas.openxmlformats.org/officeDocument/2006/relationships" id="258" r:id="R91c840585a164551"/>
    <p:sldId xmlns:r="http://schemas.openxmlformats.org/officeDocument/2006/relationships" id="259" r:id="Racc1ad44d6e544f4"/>
    <p:sldId xmlns:r="http://schemas.openxmlformats.org/officeDocument/2006/relationships" id="260" r:id="Ra26738f807734876"/>
    <p:sldId xmlns:r="http://schemas.openxmlformats.org/officeDocument/2006/relationships" id="261" r:id="Re223c8769afa4202"/>
    <p:sldId xmlns:r="http://schemas.openxmlformats.org/officeDocument/2006/relationships" id="262" r:id="R94bb2aa259b04905"/>
    <p:sldId xmlns:r="http://schemas.openxmlformats.org/officeDocument/2006/relationships" id="263" r:id="Refaa213d10e64883"/>
    <p:sldId xmlns:r="http://schemas.openxmlformats.org/officeDocument/2006/relationships" id="264" r:id="R006ee287ae054e9d"/>
    <p:sldId xmlns:r="http://schemas.openxmlformats.org/officeDocument/2006/relationships" id="265" r:id="R9e9a7b6e3a2f468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5cc930ac814964" /><Relationship Type="http://schemas.openxmlformats.org/officeDocument/2006/relationships/theme" Target="/ppt/theme/theme1.xml" Id="R387c7aa1d61047bf" /><Relationship Type="http://schemas.openxmlformats.org/officeDocument/2006/relationships/notesMaster" Target="/ppt/notesMasters/notesMaster1.xml" Id="Rccd4edbd87ed4501" /><Relationship Type="http://schemas.openxmlformats.org/officeDocument/2006/relationships/presProps" Target="/ppt/presProps.xml" Id="R02de9d35e6044dec" /><Relationship Type="http://schemas.openxmlformats.org/officeDocument/2006/relationships/viewProps" Target="/ppt/viewProps.xml" Id="R5e2821be6e154966" /><Relationship Type="http://schemas.openxmlformats.org/officeDocument/2006/relationships/tableStyles" Target="/ppt/tableStyles.xml" Id="R8b82e93afc2942ec" /><Relationship Type="http://schemas.openxmlformats.org/officeDocument/2006/relationships/slide" Target="/ppt/slides/slide1.xml" Id="R2a55aa5572b240e9" /><Relationship Type="http://schemas.openxmlformats.org/officeDocument/2006/relationships/slide" Target="/ppt/slides/slide2.xml" Id="R391f0838958c4b1c" /><Relationship Type="http://schemas.openxmlformats.org/officeDocument/2006/relationships/slide" Target="/ppt/slides/slide3.xml" Id="R91c840585a164551" /><Relationship Type="http://schemas.openxmlformats.org/officeDocument/2006/relationships/slide" Target="/ppt/slides/slide4.xml" Id="Racc1ad44d6e544f4" /><Relationship Type="http://schemas.openxmlformats.org/officeDocument/2006/relationships/slide" Target="/ppt/slides/slide5.xml" Id="Ra26738f807734876" /><Relationship Type="http://schemas.openxmlformats.org/officeDocument/2006/relationships/slide" Target="/ppt/slides/slide6.xml" Id="Re223c8769afa4202" /><Relationship Type="http://schemas.openxmlformats.org/officeDocument/2006/relationships/slide" Target="/ppt/slides/slide7.xml" Id="R94bb2aa259b04905" /><Relationship Type="http://schemas.openxmlformats.org/officeDocument/2006/relationships/slide" Target="/ppt/slides/slide8.xml" Id="Refaa213d10e64883" /><Relationship Type="http://schemas.openxmlformats.org/officeDocument/2006/relationships/slide" Target="/ppt/slides/slide9.xml" Id="R006ee287ae054e9d" /><Relationship Type="http://schemas.openxmlformats.org/officeDocument/2006/relationships/slide" Target="/ppt/slides/slide10.xml" Id="R9e9a7b6e3a2f46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4f0945c524b48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e224d08acf4a9e" /><Relationship Type="http://schemas.openxmlformats.org/officeDocument/2006/relationships/notesMaster" Target="/ppt/notesMasters/notesMaster1.xml" Id="R7d8489e13be344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987eed4280471e" /><Relationship Type="http://schemas.openxmlformats.org/officeDocument/2006/relationships/notesMaster" Target="/ppt/notesMasters/notesMaster1.xml" Id="Rac570efee36b46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3593d63661468d" /><Relationship Type="http://schemas.openxmlformats.org/officeDocument/2006/relationships/notesMaster" Target="/ppt/notesMasters/notesMaster1.xml" Id="Reb03b28e5e6844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66d2f5a8844af4" /><Relationship Type="http://schemas.openxmlformats.org/officeDocument/2006/relationships/notesMaster" Target="/ppt/notesMasters/notesMaster1.xml" Id="R974c5f2aeebf48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4acf76a145451d" /><Relationship Type="http://schemas.openxmlformats.org/officeDocument/2006/relationships/notesMaster" Target="/ppt/notesMasters/notesMaster1.xml" Id="R104bc9fb21ad48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22f66e4d834bac" /><Relationship Type="http://schemas.openxmlformats.org/officeDocument/2006/relationships/notesMaster" Target="/ppt/notesMasters/notesMaster1.xml" Id="R57db317166a04b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34cf6618f644e1" /><Relationship Type="http://schemas.openxmlformats.org/officeDocument/2006/relationships/notesMaster" Target="/ppt/notesMasters/notesMaster1.xml" Id="R1ac55d6f3c4d49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5433b023724f08" /><Relationship Type="http://schemas.openxmlformats.org/officeDocument/2006/relationships/notesMaster" Target="/ppt/notesMasters/notesMaster1.xml" Id="R405bec813aad48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a8ebe7335c4798" /><Relationship Type="http://schemas.openxmlformats.org/officeDocument/2006/relationships/notesMaster" Target="/ppt/notesMasters/notesMaster1.xml" Id="R04fd230b66f74f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934b2118114155" /><Relationship Type="http://schemas.openxmlformats.org/officeDocument/2006/relationships/notesMaster" Target="/ppt/notesMasters/notesMaster1.xml" Id="Ra0c7434a0e7342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system claim. The contribution is a real mobile edge-computing path, not just a benchmark model trained offline.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prediction-sleep/ios_healthkit_demo/HealthKitManager.swift</a:t>
            </a:r>
          </a:p>
          <a:p xmlns:a="http://schemas.openxmlformats.org/drawingml/2006/main">
            <a:r>
              <a:t>- prediction-sleep/ios_healthkit_demo/mobile_linear_contract.json</a:t>
            </a:r>
          </a:p>
          <a:p xmlns:a="http://schemas.openxmlformats.org/drawingml/2006/main">
            <a:r>
              <a:t>- prediction-sleep/reports/mobile_model_report.json</a:t>
            </a:r>
          </a:p>
          <a:p xmlns:a="http://schemas.openxmlformats.org/drawingml/2006/main">
            <a:r>
              <a:t>- prediction-sleep/reports/label_checks.json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motivation plus overview slide. Explain both why fatigue prediction matters and what the end-to-end system does before moving into data and model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prediction-sleep/ios_healthkit_demo/HealthKitManager.swift</a:t>
            </a:r>
          </a:p>
          <a:p xmlns:a="http://schemas.openxmlformats.org/drawingml/2006/main">
            <a:r>
              <a:t>- prediction-sleep/reports/mobile_model_report.json</a:t>
            </a:r>
          </a:p>
          <a:p xmlns:a="http://schemas.openxmlformats.org/drawingml/2006/main">
            <a:r>
              <a:t>- prediction-sleep/ios_healthkit_demo/mobile_linear_contract.json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difference between project-specific supervised data and the public-data support used earlier in the pipeline.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prediction-sleep/reports/label_checks.json</a:t>
            </a:r>
          </a:p>
          <a:p xmlns:a="http://schemas.openxmlformats.org/drawingml/2006/main">
            <a:r>
              <a:t>- prediction-sleep/docs/PIPELINE_WORKING_EXPLANATION.md</a:t>
            </a:r>
          </a:p>
          <a:p xmlns:a="http://schemas.openxmlformats.org/drawingml/2006/main">
            <a:r>
              <a:t>- prediction-sleep/ios_healthkit_demo/HealthKitManager.swift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what is computed live on the device from the richer offline training feature spaces.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prediction-sleep/ios_healthkit_demo/HealthKitManager.swift</a:t>
            </a:r>
          </a:p>
          <a:p xmlns:a="http://schemas.openxmlformats.org/drawingml/2006/main">
            <a:r>
              <a:t>- prediction-sleep/reports/split_stats.json</a:t>
            </a:r>
          </a:p>
          <a:p xmlns:a="http://schemas.openxmlformats.org/drawingml/2006/main">
            <a:r>
              <a:t>- prediction-sleep/reports/public_transfer_report.json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the training story. It should explain why the pipeline does not stop at a single offline model fit.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prediction-sleep/docs/PIPELINE_WORKING_EXPLANATION.md</a:t>
            </a:r>
          </a:p>
          <a:p xmlns:a="http://schemas.openxmlformats.org/drawingml/2006/main">
            <a:r>
              <a:t>- prediction-sleep/reports/public_transfer_report.json</a:t>
            </a:r>
          </a:p>
          <a:p xmlns:a="http://schemas.openxmlformats.org/drawingml/2006/main">
            <a:r>
              <a:t>- prediction-sleep/reports/distillation_report.json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where you explain the parameter changes. The point is not only F1; the point is mobile-safe F1 under strict size and latency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prediction-sleep/reports/mobile_model_scores.csv</a:t>
            </a:r>
          </a:p>
          <a:p xmlns:a="http://schemas.openxmlformats.org/drawingml/2006/main">
            <a:r>
              <a:t>- prediction-sleep/reports/mobile_model_report.json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exact inference sequence. This is the most technical slide in the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prediction-sleep/ios_healthkit_demo/mobile_linear_contract.json</a:t>
            </a:r>
          </a:p>
          <a:p xmlns:a="http://schemas.openxmlformats.org/drawingml/2006/main">
            <a:r>
              <a:t>- prediction-sleep/ios_healthkit_demo/HealthKitManager.swift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 this slide directly to HealthKitManager.swift. Explain that the runtime path is a sequence of concrete native queries and feature builders.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prediction-sleep/ios_healthkit_demo/HealthKitManager.swift</a:t>
            </a:r>
          </a:p>
          <a:p xmlns:a="http://schemas.openxmlformats.org/drawingml/2006/main">
            <a:r>
              <a:t>- prediction-sleep/ios_healthkit_demo/ContentView.swift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 this on ContentView.swift and the ClinicalDesign theme. Explain the user flow and the reasoning behind the mobile UI 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prediction-sleep/ios_healthkit_demo/ContentView.swift</a:t>
            </a:r>
          </a:p>
          <a:p xmlns:a="http://schemas.openxmlformats.org/drawingml/2006/main">
            <a:r>
              <a:t>- prediction-sleep/ios_healthkit_demo/ClinicalDesign.swift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split between model quality and system quality. That frames the work honestly while keeping the system contribution central.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prediction-sleep/reports/mobile_model_report.json</a:t>
            </a:r>
          </a:p>
          <a:p xmlns:a="http://schemas.openxmlformats.org/drawingml/2006/main">
            <a:r>
              <a:t>- prediction-sleep/reports/label_checks.json</a:t>
            </a:r>
          </a:p>
          <a:p xmlns:a="http://schemas.openxmlformats.org/drawingml/2006/main">
            <a:r>
              <a:t>- prediction-sleep/ios_healthkit_demo/HealthKitManager.swift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bad067996143e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51B84746-0DBA-474A-BD42-2B06E7F53C16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0DDBD73F-0ECB-452E-99AD-BCBD5C4F8BB9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3F14D8-9695-43A7-810C-585345FB2AB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3C40EF-75D4-4797-8ED4-E0F53C468B7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46B800B-D360-438C-B112-ADF8D546EA5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9785173810b402c" /><Relationship Type="http://schemas.openxmlformats.org/officeDocument/2006/relationships/slideLayout" Target="/ppt/slideLayouts/slideLayout2.xml" Id="Rf1b7515c0bfe4c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060C4B6-74CF-4361-8314-33753BA3F262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b7515c0bfe4c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cddacf315f4394" /><Relationship Type="http://schemas.openxmlformats.org/officeDocument/2006/relationships/image" Target="/ppt/media/image.png" Id="Rd0f5a879be614ebb" /><Relationship Type="http://schemas.openxmlformats.org/officeDocument/2006/relationships/image" Target="/ppt/media/image2.png" Id="R6d25c4800e9f4152" /><Relationship Type="http://schemas.openxmlformats.org/officeDocument/2006/relationships/image" Target="/ppt/media/image3.png" Id="Re3ea59ccd9c4429a" /><Relationship Type="http://schemas.openxmlformats.org/officeDocument/2006/relationships/image" Target="/ppt/media/image4.png" Id="Ra182f22a7c3642a1" /><Relationship Type="http://schemas.openxmlformats.org/officeDocument/2006/relationships/notesSlide" Target="/ppt/notesSlides/notesSlide1.xml" Id="R1b33249198ef46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65e623c5ca45c5" /><Relationship Type="http://schemas.openxmlformats.org/officeDocument/2006/relationships/image" Target="/ppt/media/image5.png" Id="R563b5ed6dc434e5f" /><Relationship Type="http://schemas.openxmlformats.org/officeDocument/2006/relationships/notesSlide" Target="/ppt/notesSlides/notesSlide2.xml" Id="R4b829de792fd4e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a6674bdb57454c" /><Relationship Type="http://schemas.openxmlformats.org/officeDocument/2006/relationships/image" Target="/ppt/media/image6.png" Id="Rfd076732f80743d0" /><Relationship Type="http://schemas.openxmlformats.org/officeDocument/2006/relationships/notesSlide" Target="/ppt/notesSlides/notesSlide3.xml" Id="R10b10d288a7141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6e37236e4d44af" /><Relationship Type="http://schemas.openxmlformats.org/officeDocument/2006/relationships/image" Target="/ppt/media/image7.png" Id="R5f147cf0af884ad4" /><Relationship Type="http://schemas.openxmlformats.org/officeDocument/2006/relationships/notesSlide" Target="/ppt/notesSlides/notesSlide4.xml" Id="Reb2d7cb4b44744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ef414dca36489d" /><Relationship Type="http://schemas.openxmlformats.org/officeDocument/2006/relationships/image" Target="/ppt/media/image8.png" Id="Rf3c8e904b70f4353" /><Relationship Type="http://schemas.openxmlformats.org/officeDocument/2006/relationships/notesSlide" Target="/ppt/notesSlides/notesSlide5.xml" Id="Rf2c8f32301c443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f3f541348f4278" /><Relationship Type="http://schemas.openxmlformats.org/officeDocument/2006/relationships/image" Target="/ppt/media/image9.png" Id="R9b935f035fcd47dc" /><Relationship Type="http://schemas.openxmlformats.org/officeDocument/2006/relationships/notesSlide" Target="/ppt/notesSlides/notesSlide6.xml" Id="R8adb40c49a104c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0eede659cb45e6" /><Relationship Type="http://schemas.openxmlformats.org/officeDocument/2006/relationships/image" Target="/ppt/media/image10.png" Id="R249709ecf448463f" /><Relationship Type="http://schemas.openxmlformats.org/officeDocument/2006/relationships/notesSlide" Target="/ppt/notesSlides/notesSlide7.xml" Id="Rdfa46051af1a45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f62eb5bbb646b9" /><Relationship Type="http://schemas.openxmlformats.org/officeDocument/2006/relationships/image" Target="/ppt/media/image11.png" Id="Rb2356e3d532c40fa" /><Relationship Type="http://schemas.openxmlformats.org/officeDocument/2006/relationships/notesSlide" Target="/ppt/notesSlides/notesSlide8.xml" Id="R1a015acf4e1341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3771522eb446b7" /><Relationship Type="http://schemas.openxmlformats.org/officeDocument/2006/relationships/image" Target="/ppt/media/image12.png" Id="R9cc63518513241ae" /><Relationship Type="http://schemas.openxmlformats.org/officeDocument/2006/relationships/notesSlide" Target="/ppt/notesSlides/notesSlide9.xml" Id="Raa2915991df74b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823eab397b4dc2" /><Relationship Type="http://schemas.openxmlformats.org/officeDocument/2006/relationships/image" Target="/ppt/media/image13.png" Id="Re1c76d801bff45e5" /><Relationship Type="http://schemas.openxmlformats.org/officeDocument/2006/relationships/notesSlide" Target="/ppt/notesSlides/notesSlide10.xml" Id="R4e948158652647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46B800B-D360-438C-B112-ADF8D546EA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5a879be614ebb"/>
          <a:srcRect xmlns:a="http://schemas.openxmlformats.org/drawingml/2006/main" l="0" t="1684" r="0" b="16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DE123-F054-4A6C-9682-D51BB1F5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25c4800e9f4152"/>
          <a:stretch xmlns:a="http://schemas.openxmlformats.org/drawingml/2006/main"/>
        </p:blipFill>
        <p:spPr>
          <a:xfrm xmlns:a="http://schemas.openxmlformats.org/drawingml/2006/main">
            <a:off x="8031639" y="4171950"/>
            <a:ext cx="3482023" cy="2095500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a59ccd9c4429a"/>
          <a:stretch xmlns:a="http://schemas.openxmlformats.org/drawingml/2006/main"/>
        </p:blipFill>
        <p:spPr>
          <a:xfrm xmlns:a="http://schemas.openxmlformats.org/drawingml/2006/main">
            <a:off x="7943850" y="1717180"/>
            <a:ext cx="4248150" cy="4052289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82f22a7c3642a1"/>
          <a:stretch xmlns:a="http://schemas.openxmlformats.org/drawingml/2006/main"/>
        </p:blipFill>
        <p:spPr>
          <a:xfrm xmlns:a="http://schemas.openxmlformats.org/drawingml/2006/main">
            <a:off x="781050" y="5700117"/>
            <a:ext cx="1428750" cy="48696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33981-7C82-47AA-80B0-27A75EC0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714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01 /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DFB83-F2B7-45C0-928C-9FE2C275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7620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C680B-D8AF-43E8-9227-94AC3F79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001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4F2E"/>
                </a:solidFill>
              </a:defRPr>
            </a:pPr>
            <a:r>
              <a:rPr sz="975" b="1">
                <a:solidFill>
                  <a:srgbClr val="004F2E"/>
                </a:solidFill>
              </a:rPr>
              <a:t>CS655 MOBILE / WEARABLE COMPUTING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2D67E-6701-4009-B1DF-9E1AAFCA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6477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Apple Watch Fatigue Prediction With On-Device Inference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59886-A1CD-4C56-861F-B0B32E9E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F2F2F"/>
                </a:solidFill>
              </a:defRPr>
            </a:pPr>
            <a:r>
              <a:rPr sz="1500" b="0">
                <a:solidFill>
                  <a:srgbClr val="2F2F2F"/>
                </a:solidFill>
              </a:rPr>
              <a:t>Private HealthKit sensing, local feature computation, and local Swift prediction on iPhone.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66ADB-7FE2-4359-8BED-8AE163F4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3810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30AC88-ED34-48B2-BCC8-2C0A229D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863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HealthKit -&gt; features -&gt; Swift contract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432C60-3A08-4B64-9B77-51E6A06A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60AED-16D1-4F51-9C58-3B9BD75C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166B5-9DAA-41DD-A9F4-4BCA0A14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95500"/>
            <a:ext cx="243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359 nights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D9D5F4-37B5-4AB5-AAA7-587A92FF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47950"/>
            <a:ext cx="2400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2F2F"/>
                </a:solidFill>
              </a:defRPr>
            </a:pPr>
            <a:r>
              <a:rPr sz="1200" b="0">
                <a:solidFill>
                  <a:srgbClr val="2F2F2F"/>
                </a:solidFill>
              </a:rPr>
              <a:t>Dataset scale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28D14E-8B78-4132-AA42-5DFF1FCD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3D4959-DFAF-4FF7-A029-2FD632B3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766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343B78-2D13-4184-9453-CF735A0A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05200"/>
            <a:ext cx="243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61 features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37899E-10A4-48A5-9D65-398660A2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57650"/>
            <a:ext cx="2400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2F2F"/>
                </a:solidFill>
              </a:defRPr>
            </a:pPr>
            <a:r>
              <a:rPr sz="1200" b="0">
                <a:solidFill>
                  <a:srgbClr val="2F2F2F"/>
                </a:solidFill>
              </a:rPr>
              <a:t>Linear contract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495D10-8744-4D81-817D-3C9D7A69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863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89D3A7-DA66-445C-89A2-5436EB5C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863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EC8815-9183-4923-A699-5A08E378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14900"/>
            <a:ext cx="243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10.55 KB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F35912-58B5-40F9-A316-14B38C56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467350"/>
            <a:ext cx="2400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2F2F"/>
                </a:solidFill>
              </a:defRPr>
            </a:pPr>
            <a:r>
              <a:rPr sz="1200" b="0">
                <a:solidFill>
                  <a:srgbClr val="2F2F2F"/>
                </a:solidFill>
              </a:rPr>
              <a:t>Mobile artifact size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079C41-487C-428E-B733-10B529FE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8102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6C"/>
                </a:solidFill>
              </a:defRPr>
            </a:pPr>
            <a:r>
              <a:rPr sz="825" b="0">
                <a:solidFill>
                  <a:srgbClr val="5F666C"/>
                </a:solidFill>
              </a:rPr>
              <a:t>Shashikant  |  CS655  |  George Mason University</a:t>
            </a:r>
          </a:p>
        </p:txBody>
      </p:sp>
    </p:spTree>
    <p:extLst>
      <p:ext uri="{BB962C8B-B14F-4D97-AF65-F5344CB8AC3E}">
        <p14:creationId xmlns:p14="http://schemas.microsoft.com/office/powerpoint/2010/main" val="10957226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46B800B-D360-438C-B112-ADF8D546EA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b5ed6dc434e5f"/>
          <a:srcRect xmlns:a="http://schemas.openxmlformats.org/drawingml/2006/main" l="0" t="1684" r="0" b="16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E724AA-BAE0-4BD9-BB14-1CA85444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893AD-FC06-493F-ADE9-17AF1E96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714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02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83912-C50D-4F8C-AA7B-ADE86916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F2E"/>
                </a:solidFill>
              </a:defRPr>
            </a:pPr>
            <a:r>
              <a:rPr sz="900" b="1">
                <a:solidFill>
                  <a:srgbClr val="004F2E"/>
                </a:solidFill>
              </a:rPr>
              <a:t>PROJECT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C959D-F769-4B19-9233-B3446BF0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6855E-3D24-4EF2-AC25-7871694F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8858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Why This Project And How It Works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22074-97E9-4F84-A1A2-D389024E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2F2F"/>
                </a:solidFill>
              </a:defRPr>
            </a:pPr>
            <a:r>
              <a:rPr sz="1350" b="0">
                <a:solidFill>
                  <a:srgbClr val="2F2F2F"/>
                </a:solidFill>
              </a:rPr>
              <a:t>We chose fatigue prediction because wearable recovery signals are meaningful but noisy,</a:t>
            </a:r>
          </a:p>
          <a:p xmlns:a="http://schemas.openxmlformats.org/drawingml/2006/main">
            <a:pPr algn="l">
              <a:defRPr sz="1350" b="0">
                <a:solidFill>
                  <a:srgbClr val="2F2F2F"/>
                </a:solidFill>
              </a:defRPr>
            </a:pPr>
            <a:r>
              <a:rPr sz="1350" b="0">
                <a:solidFill>
                  <a:srgbClr val="2F2F2F"/>
                </a:solidFill>
              </a:rPr>
              <a:t>privacy-sensitive, and hard to turn into a usable mobile system. The project was to make that path</a:t>
            </a:r>
          </a:p>
          <a:p xmlns:a="http://schemas.openxmlformats.org/drawingml/2006/main">
            <a:pPr algn="l">
              <a:defRPr sz="1350" b="0">
                <a:solidFill>
                  <a:srgbClr val="2F2F2F"/>
                </a:solidFill>
              </a:defRPr>
            </a:pPr>
            <a:r>
              <a:rPr sz="1350" b="0">
                <a:solidFill>
                  <a:srgbClr val="2F2F2F"/>
                </a:solidFill>
              </a:rPr>
              <a:t>work end to end on iPhone.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D92626-47F0-427E-902A-C4587C70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4762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A6D0EB-0FFC-47B9-B139-0DB8E135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95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E7DBA9-E2C7-4C0C-940F-A0ADBF45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F2E"/>
                </a:solidFill>
              </a:defRPr>
            </a:pPr>
            <a:r>
              <a:rPr sz="1200" b="1">
                <a:solidFill>
                  <a:srgbClr val="004F2E"/>
                </a:solidFill>
              </a:rPr>
              <a:t>Why this project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6657D-2862-492E-BEFE-C63BC3F5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4076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- Fatigue affects daily functioning but is not directly observable from one single sensor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- Apple Watch and iPhone data provide sleep, physiology, and activity signals that can be combined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- The real challenge was building a private, usable mobile pipeline instead of only training an offline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3EC3D-26DF-4940-AA55-B8285CD1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90850"/>
            <a:ext cx="4762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7265FD-B4A3-4083-BE20-76C94A8B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90850"/>
            <a:ext cx="95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00F191-B5F2-4908-B200-67E803B0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94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F2E"/>
                </a:solidFill>
              </a:defRPr>
            </a:pPr>
            <a:r>
              <a:rPr sz="1200" b="1">
                <a:solidFill>
                  <a:srgbClr val="004F2E"/>
                </a:solidFill>
              </a:rPr>
              <a:t>System overview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87FDB9-5263-4B9C-BCB3-0D5760BE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57600"/>
            <a:ext cx="4076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- Read HealthKit sleep and vitals on device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- Compute nightly features and fill missing values locally in Swift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- Run the bundled model contract and show prediction plus history in the 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6F0A9C-6986-4A50-9C89-975C8E62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19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865D8E-E8BF-4D35-ABF9-71E2AD82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965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Project scope: HealthKit sensing -&gt; feature computation -&gt; on-device inference -&gt; user-facing result, all inside the native iPhone app.</a:t>
            </a:r>
          </a:p>
        </p:txBody>
      </p:sp>
    </p:spTree>
    <p:extLst>
      <p:ext uri="{BB962C8B-B14F-4D97-AF65-F5344CB8AC3E}">
        <p14:creationId xmlns:p14="http://schemas.microsoft.com/office/powerpoint/2010/main" val="10502456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46B800B-D360-438C-B112-ADF8D546EA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076732f80743d0"/>
          <a:srcRect xmlns:a="http://schemas.openxmlformats.org/drawingml/2006/main" l="0" t="1684" r="0" b="16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F705E-666E-4DBC-9083-D4E561F9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A0977-29E7-44BD-92FB-27DD84B2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714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03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08CF4-7F0D-40E4-A3F1-8484DD47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F2E"/>
                </a:solidFill>
              </a:defRPr>
            </a:pPr>
            <a:r>
              <a:rPr sz="900" b="1">
                <a:solidFill>
                  <a:srgbClr val="004F2E"/>
                </a:solidFill>
              </a:rPr>
              <a:t>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160B1-411F-4D69-9491-D07BBF78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521B66-100F-441A-ACC6-9C6D6FD3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8477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What Data We Used And Why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4C8EB-BD95-4C33-8BB3-D0CCEEB8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3365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2E755-FCF5-443E-91EC-CBFA0A1F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DDF14C-189C-4910-9407-0E7C0560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9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B91694-E4CF-4C3E-AC42-21F1445E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861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AF5A52-DD84-4F27-8D0D-67CF08A0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2099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94BCE-1C2F-4C84-A160-12C37E8A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432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4E55DD-DD4A-4391-8A1B-AE28BC24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90850"/>
            <a:ext cx="233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Project labels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8512D-0DBC-4D74-A5E0-E3C24943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29083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We trained on 359 labeled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nights with balanced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classes: 180 fatigued and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179 non-fatigued. These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labels define the supervised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next-day fatigue target.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F2C3F8-5FD7-46B9-94ED-D2F57F42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781300"/>
            <a:ext cx="3365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79236D-B1E8-4769-89F1-C0296828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7813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0C3DA8-E4CF-494E-8BB2-43C86B01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009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9115FB-B1E4-4568-A869-C9029747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181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929529-8D4A-4AA0-AD6E-1F3C6EE4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267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6AC68E-A7F2-40DB-9490-C8FE0D90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2480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13B2A4-9813-4956-A35C-25CC0280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2990850"/>
            <a:ext cx="233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Runtime sensors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9CF189-FE6D-425E-991C-C81BDC91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3600450"/>
            <a:ext cx="29083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Sleep stages, HR, HRV,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respiratory rate, SpO2,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steps, active energy, and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exercise time were used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because they capture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recovery, physiology, and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cumulative load.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C43F63-90CC-4721-B397-380A88CB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781300"/>
            <a:ext cx="3365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A6EC06-A251-49A4-BBDE-B9F86C10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7813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EA361A-E930-449A-BD39-53C569C1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009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CAD7BC-3FEE-4230-B6D5-6A45D50D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725" y="31527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633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E70A67-E0AA-4BA2-B57F-1526EE46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8350" y="32385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C33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764306-214A-40B3-AAB9-71FA3101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33242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38700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744328-C4DB-41B7-9455-932BE538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5550" y="2990850"/>
            <a:ext cx="233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Public-data support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AC2FA6-6B3D-4F4C-8983-07CA91AF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600450"/>
            <a:ext cx="29083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SleepAccel (25,971 rows / 31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subjects) and PPG-DaLiA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(3.02M rows / 15 subjects)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were used for representation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support, not as runtime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phone input.</a:t>
            </a:r>
          </a:p>
        </p:txBody>
      </p:sp>
    </p:spTree>
    <p:extLst>
      <p:ext uri="{BB962C8B-B14F-4D97-AF65-F5344CB8AC3E}">
        <p14:creationId xmlns:p14="http://schemas.microsoft.com/office/powerpoint/2010/main" val="919982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46B800B-D360-438C-B112-ADF8D546EA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47cf0af884ad4"/>
          <a:srcRect xmlns:a="http://schemas.openxmlformats.org/drawingml/2006/main" l="0" t="1684" r="0" b="16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5D851F-9197-459D-83A3-B123CB85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678EE-6C40-4923-B5D8-31BF994C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714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04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D0054-C4CD-4569-90BF-56C38B0F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F2E"/>
                </a:solidFill>
              </a:defRPr>
            </a:pPr>
            <a:r>
              <a:rPr sz="900" b="1">
                <a:solidFill>
                  <a:srgbClr val="004F2E"/>
                </a:solidFill>
              </a:rPr>
              <a:t>FEATURE 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28762-E9E3-4632-86E8-B43664CC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DABD46-7A28-4A1F-ABAF-7D8ACA71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876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How We Turned Health Signals Into Mobile Features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BECCC8-7AC8-46A8-AB48-B3D9FEF2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2419350" cy="25717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ECF71-318C-4298-84AA-3094C1EC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A6F1F-90D7-461B-9612-74ECB7D8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E9E8C-73F5-4567-8839-CEB064BB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480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CF4DD-E8B3-4C03-B00A-A9DDDE48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1718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23A4D3-76AB-4175-ABFD-AED2A62B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051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83A246-9BD9-4EA7-BA18-0F3623CC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527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Night window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F34417-8F4A-4052-B027-CD878021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19621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 minus 6 hour shift groups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cross-midnight sleep into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one night key before nightly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summary statistics are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computed.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4AB718-1073-4AC2-AC93-91D52EDB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33800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F1015A-14EA-4C73-9E76-636DFF25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766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BC9293-2E57-48F0-AE25-31DC5F4E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43200"/>
            <a:ext cx="2419350" cy="25717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F2705C-5091-4155-85DF-DF5279B1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4320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910DF9-C660-445E-B5D3-8A88DF9D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71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CEDAC9-742E-4EE6-AB23-12893B84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143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876A2B-0A09-422D-9AD2-ECC0D886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228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FC9EA3-0014-4680-9F3A-47CA95FE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099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65FD8E-9B86-4454-922E-04A7FCE9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527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Live device features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C2C496-2E7E-4975-A57E-44AE7E4C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62350"/>
            <a:ext cx="19621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HealthKitManager builds 33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live features: sleep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aggregates, vital-sign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statistics, and previous-day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activity.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BD53E5-4B63-410E-AB8A-C109493E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33800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475D21-25E7-491B-A3B7-E273DDFA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766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88B158-8A33-48F4-AFB8-876FC469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43200"/>
            <a:ext cx="2419350" cy="25717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B4A4DD-5EBC-428C-9B78-9FC106D0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4320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EB9D41-C12F-4DAF-A578-AD9AC7B9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71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E2AFDD-6599-43B5-94A7-4EE664E5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1146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633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9C1863-4427-4D64-A2A7-977269CC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004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C33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8C51DC-8159-4620-9FF8-44FEAB45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2861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38700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FE9E0A-874A-42B7-B419-CE2FA9B2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527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Offline expansion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910CD9-D320-4631-9017-0421D0DF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19621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Training adds rolling 3d and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7d summaries, lag terms,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missingness/context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features, and public encoder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dimensions.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101B96-A2E3-4338-B894-869CF8FD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33800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1C92D9-C40A-4EAA-BABB-150E203D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766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BFC5F6-F926-44DD-B8E3-D2B53FF6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43200"/>
            <a:ext cx="2419350" cy="25717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D8AD7B-A1CF-4FDE-88E0-1771C6BD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4320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88C8CF-46B5-452D-9EF7-A3F33992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71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0AB67B-B341-45BF-AAEA-0F2DACAD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480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C91C06-97CF-4EF0-90EB-69F67523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1718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F6749A-FCBF-49FA-A33F-6751A0D2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051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129BD7-8DDE-4BF8-8565-8D70DB0E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527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Training table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1214E4-85BF-448F-A616-3D1861CC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62350"/>
            <a:ext cx="19621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The offline split contains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75 engineered features;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transfer and combined spaces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expand to 119 and 149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features.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BFE24C-3D3D-4ABC-B36C-BF6D5702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971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F2F2F"/>
                </a:solidFill>
              </a:defRPr>
            </a:pPr>
            <a:r>
              <a:rPr sz="900" b="0">
                <a:solidFill>
                  <a:srgbClr val="2F2F2F"/>
                </a:solidFill>
              </a:rPr>
              <a:t>Why this matters: single-night signals were weak, so cumulative context was added before model selection.</a:t>
            </a:r>
          </a:p>
        </p:txBody>
      </p:sp>
    </p:spTree>
    <p:extLst>
      <p:ext uri="{BB962C8B-B14F-4D97-AF65-F5344CB8AC3E}">
        <p14:creationId xmlns:p14="http://schemas.microsoft.com/office/powerpoint/2010/main" val="4286072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46B800B-D360-438C-B112-ADF8D546EA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c8e904b70f4353"/>
          <a:srcRect xmlns:a="http://schemas.openxmlformats.org/drawingml/2006/main" l="0" t="1684" r="0" b="16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DCEB2-D0F1-4D23-8E2D-3336B86C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A501C-FC45-4D67-AC85-50373C00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714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05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7BBAD-8F02-4DAF-9CA6-92DD8010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F2E"/>
                </a:solidFill>
              </a:defRPr>
            </a:pPr>
            <a:r>
              <a:rPr sz="900" b="1">
                <a:solidFill>
                  <a:srgbClr val="004F2E"/>
                </a:solidFill>
              </a:rPr>
              <a:t>MODEL DEVELOPMENT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51393-2208-404A-B6FB-EA019850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1E4A6-71E0-4368-BEBF-E0CEA847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876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How The Model Was Developed For Mobile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51067-5648-45BC-8611-2AEA4E84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2419350" cy="25717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A2090-D74E-4937-8785-4F831D43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FD8DE3-F75A-453A-B71D-897022EE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FA156-8BFE-44AD-A001-A254F357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480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3A729-05EE-4882-87CE-4717857C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1718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A5F29-4F78-4450-A1F7-D2717C66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051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76A76A-0E73-4EE9-931E-186C4C22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527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Baseline models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16211C-94B8-40C5-A9C6-CED54D2A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19621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Start with 30 baseline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wearable features and train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transparent classical models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on time-aware splits.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5F1E4F-BD18-4ED4-9A0A-8F948233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33800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5E50BB-AC67-4469-82B0-C4C82C44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766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7DCEB5-2101-4A63-86EC-49F87000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43200"/>
            <a:ext cx="2419350" cy="25717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120935-3817-4F1C-8A47-8E023ADF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4320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19B5F2-0C9D-4129-8254-E5D5F56A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71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C88F91-A1E1-467C-9755-6769C6C9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143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D6144F-D9DA-49D7-9B58-1286431E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228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E4B29D-DAF5-4ABF-BB48-CDEEAF28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099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E5001C-A18D-4F07-943B-A5602A86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527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Transfer fine-tuning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E372D0-04FC-4903-B5DA-DF9C0F9F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62350"/>
            <a:ext cx="19621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Add public encoder support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and compare baseline,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transfer, and combined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spaces; the transfer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ablation becomes the richest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offline champion at 119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features.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66B2E4-EE05-406C-A43E-A6699891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33800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BA8E90-6A3C-4864-AFFD-25A5218A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766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1588F9-661F-4188-8613-144EF445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43200"/>
            <a:ext cx="2419350" cy="25717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6CF66D-ED63-4869-BC3F-BA90D84C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4320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13A546-C0A4-4A12-BEFD-CAF2867D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71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747722-BC11-42AB-95C3-AFEF13C6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1146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633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3D18EE-83E4-4295-9804-2354E2B2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004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C33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E9C5BA-1232-4F97-9F5B-881BF414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2861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38700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AD0263-A44B-4094-B48D-1EAA382B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527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Mobile distillation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C4F352-716E-488A-9BDA-4A70F344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19621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Train compact linear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students, calibrate the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threshold, and export a JSON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linear contract that fits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device constraints.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8682B1-94F1-4FD0-B1F0-FBE75E7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33800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75D623-ACA9-449A-B8FD-47630C54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766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49F379-B24C-4E19-96C9-EF6B6759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43200"/>
            <a:ext cx="2419350" cy="25717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725633-7B71-4827-802F-EB22423E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4320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7171CA-1EDA-4F25-817A-15C92C58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71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693028-DD8C-4781-865C-394386E9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480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D454CB-B4A6-4EC3-9DA2-0AD9C103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1718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A00BDF-4D40-47DE-A7C5-D458AE14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051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9C0B2E-EA46-4D4B-9B14-A1917CCC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527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Research evaluation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0FE8EF3-57A5-49B0-B23C-DE823FD9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62350"/>
            <a:ext cx="19621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Run robustness sweeps and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report mobile-relevant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metrics instead of accuracy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alone.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C92F08-947F-4E84-9CEF-70F14722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971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F2F2F"/>
                </a:solidFill>
              </a:defRPr>
            </a:pPr>
            <a:r>
              <a:rPr sz="900" b="0">
                <a:solidFill>
                  <a:srgbClr val="2F2F2F"/>
                </a:solidFill>
              </a:rPr>
              <a:t>Development logic: use richer offline spaces first, then compress to a deployment-safe student.</a:t>
            </a:r>
          </a:p>
        </p:txBody>
      </p:sp>
    </p:spTree>
    <p:extLst>
      <p:ext uri="{BB962C8B-B14F-4D97-AF65-F5344CB8AC3E}">
        <p14:creationId xmlns:p14="http://schemas.microsoft.com/office/powerpoint/2010/main" val="3431297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46B800B-D360-438C-B112-ADF8D546EA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35f035fcd47dc"/>
          <a:srcRect xmlns:a="http://schemas.openxmlformats.org/drawingml/2006/main" l="0" t="1684" r="0" b="16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5E50A-B5C4-420F-989D-ACD88EEC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0A530-0DF4-4DA8-98A2-67D33A00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714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06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7F03D-308A-49AD-939D-8C13CE38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F2E"/>
                </a:solidFill>
              </a:defRPr>
            </a:pPr>
            <a:r>
              <a:rPr sz="900" b="1">
                <a:solidFill>
                  <a:srgbClr val="004F2E"/>
                </a:solidFill>
              </a:rPr>
              <a:t>MODEL 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5465E-E292-4776-B8E0-987EF000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4E07C-DCA6-4D18-A3B2-9A8F59D8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8858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What We Changed To Fit Mobile Constraints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E9E8D-753A-4274-B5FE-C6EE5B05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F2F2F"/>
                </a:solidFill>
              </a:defRPr>
            </a:pPr>
            <a:r>
              <a:rPr sz="1275" b="0">
                <a:solidFill>
                  <a:srgbClr val="2F2F2F"/>
                </a:solidFill>
              </a:rPr>
              <a:t>We tuned linear models for mobile eligibility and compared them against small tree baselines using</a:t>
            </a:r>
          </a:p>
          <a:p xmlns:a="http://schemas.openxmlformats.org/drawingml/2006/main">
            <a:pPr algn="l">
              <a:defRPr sz="1275" b="0">
                <a:solidFill>
                  <a:srgbClr val="2F2F2F"/>
                </a:solidFill>
              </a:defRPr>
            </a:pPr>
            <a:r>
              <a:rPr sz="1275" b="0">
                <a:solidFill>
                  <a:srgbClr val="2F2F2F"/>
                </a:solidFill>
              </a:rPr>
              <a:t>F1, artifact size, and latency together.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E3198-7E62-40AF-9C3A-47B1F443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72390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65007-0C3E-4A93-A3A1-CFF01B01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F8F69-9680-4873-97BF-4DCD37CF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62275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Family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F3938-8215-4482-88E0-84AD279B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62275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Tuning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F4D5EB-55D2-4C7F-AEA1-9ECD6730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62275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Weighted 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5D2953-B5B3-4C76-ACC8-7DEBEC81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62275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Size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D1944-A2A7-467A-B2B7-E1C613E7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62275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p95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940850-1854-4334-AE63-B54A6B98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57550"/>
            <a:ext cx="7219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FEA58F-479B-4689-9D28-79387A94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05225"/>
            <a:ext cx="689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3FE4DD-B55A-44D2-AFB4-7A3B7664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LogReg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DE910B-A5CD-4CB1-8D40-6ABB1EBC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909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C = 0.1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8ACBCB-DBFF-4A97-85E4-909C8117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90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0.468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8961CE-55CD-46B9-B245-05751894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909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10.31 KB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FA27F5-1356-4C4E-8A57-2597A9AB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909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3.22 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72246A-AC04-4A5C-B808-2CF1A2BD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14750"/>
            <a:ext cx="7219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0E70DA-7BA5-4CA0-A8DE-35598254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62425"/>
            <a:ext cx="689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64DAF8-C63C-4D4E-9FD4-AB230D8A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LogReg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6B231F-7BF1-42DE-BAB5-C2331D75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48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C = 2.0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14A20E-2A1D-4245-8A81-01A83671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481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0.488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A5CCA7-2781-454A-BFFD-146E75C6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48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10.31 KB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42CB98-5525-4B58-970F-E8AA16A3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48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5.26 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7A31A7-5346-4A8E-8BE6-8E8542FE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171950"/>
            <a:ext cx="7219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3FE532-CBBB-4805-92C4-49B15D82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689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71E699-B5FD-4F8B-8DE8-FE37DF26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SGD-Log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3B078D-F58F-4324-A186-5C8F25BF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05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alpha = 1e-4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524825-DF74-4121-A009-256E8ED7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053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0.491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CD3BAD-738E-430F-9279-FF111894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05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10.55 KB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670FAF-2084-411A-AEA3-E4864C07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05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5.62 ms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92EB28-B3C9-4A21-8D91-DD7077DF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29150"/>
            <a:ext cx="7219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E6A8BB-D378-42CF-B050-3038D598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76825"/>
            <a:ext cx="689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5513AB-ACA0-4F4E-806F-F3C2DF43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SGD-Log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217053-AF1E-423B-803C-A85E6041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alpha = 1e-3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551E6C-A0F9-4A32-9807-5FAAA13D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625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0.463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06207C-C727-4264-9296-FB4A3FF5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625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10.55 KB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9CA406-FB2E-4845-886E-39D0D02B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625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7.19 ms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8562D8-6938-4AA7-A638-200F9E6D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86350"/>
            <a:ext cx="7219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0363AA-D3D0-4B4A-9A09-DCCE3731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Tree baselines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655F36-C290-4B53-9D6A-33CBB038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19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RF / HGB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5BF1E1-A79F-42F2-A863-8A03C33F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197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0.400-0.420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F0FB03-50CF-4826-84A0-02D5E9FF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19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205-292 KB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67AD21-2C83-4534-80C5-000371FC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19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40-135 ms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86EEFCE-2F6E-4DFA-A643-BD39A9F9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333375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B2A899-AFCE-40CB-B980-A1AA52E5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952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87A1584-15C7-4891-90DB-98758189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861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Selected mobile artifact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C2485DD-DAAD-48E8-A734-EE4D3ED1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290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sgd_log_alpha0_0001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8AC7F81-251B-4E52-9DE2-318F1D47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95750"/>
            <a:ext cx="1314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2D3ABB4-2E0C-4D0C-8F41-AB063D2E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95750"/>
            <a:ext cx="1314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5D048BC-9BA3-40CF-9111-AC0B1E01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2435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0.491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981698B-A329-4ADF-8906-14B85365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339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F2F2F"/>
                </a:solidFill>
              </a:defRPr>
            </a:pPr>
            <a:r>
              <a:rPr sz="750" b="1">
                <a:solidFill>
                  <a:srgbClr val="2F2F2F"/>
                </a:solidFill>
              </a:rPr>
              <a:t>Weighted F1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2B2B282-DE25-4A5B-B6DE-1E8437BF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95750"/>
            <a:ext cx="1314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E30EAD6-D10A-4337-A6AE-DFAE55FD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95750"/>
            <a:ext cx="1314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5387FA4-AE1B-4358-BEB6-9D834DF9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32435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10.55 KB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49D112C-6429-412F-B414-512B13D2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9339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F2F2F"/>
                </a:solidFill>
              </a:defRPr>
            </a:pPr>
            <a:r>
              <a:rPr sz="750" b="1">
                <a:solidFill>
                  <a:srgbClr val="2F2F2F"/>
                </a:solidFill>
              </a:rPr>
              <a:t>Artifact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45AB377-9E7F-49E8-B87F-EF5D9A17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34000"/>
            <a:ext cx="274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F2F2F"/>
                </a:solidFill>
              </a:defRPr>
            </a:pPr>
            <a:r>
              <a:rPr sz="825" b="0">
                <a:solidFill>
                  <a:srgbClr val="2F2F2F"/>
                </a:solidFill>
              </a:rPr>
              <a:t>Selected because overall mobile score</a:t>
            </a:r>
          </a:p>
          <a:p xmlns:a="http://schemas.openxmlformats.org/drawingml/2006/main">
            <a:pPr algn="l">
              <a:defRPr sz="825" b="0">
                <a:solidFill>
                  <a:srgbClr val="2F2F2F"/>
                </a:solidFill>
              </a:defRPr>
            </a:pPr>
            <a:r>
              <a:rPr sz="825" b="0">
                <a:solidFill>
                  <a:srgbClr val="2F2F2F"/>
                </a:solidFill>
              </a:rPr>
              <a:t>balanced F1, artifact size, and</a:t>
            </a:r>
          </a:p>
          <a:p xmlns:a="http://schemas.openxmlformats.org/drawingml/2006/main">
            <a:pPr algn="l">
              <a:defRPr sz="825" b="0">
                <a:solidFill>
                  <a:srgbClr val="2F2F2F"/>
                </a:solidFill>
              </a:defRPr>
            </a:pPr>
            <a:r>
              <a:rPr sz="825" b="0">
                <a:solidFill>
                  <a:srgbClr val="2F2F2F"/>
                </a:solidFill>
              </a:rPr>
              <a:t>latency. RF and HGB baselines were</a:t>
            </a:r>
          </a:p>
          <a:p xmlns:a="http://schemas.openxmlformats.org/drawingml/2006/main">
            <a:pPr algn="l">
              <a:defRPr sz="825" b="0">
                <a:solidFill>
                  <a:srgbClr val="2F2F2F"/>
                </a:solidFill>
              </a:defRPr>
            </a:pPr>
            <a:r>
              <a:rPr sz="825" b="0">
                <a:solidFill>
                  <a:srgbClr val="2F2F2F"/>
                </a:solidFill>
              </a:rPr>
              <a:t>much larger and slower.</a:t>
            </a:r>
          </a:p>
        </p:txBody>
      </p:sp>
    </p:spTree>
    <p:extLst>
      <p:ext uri="{BB962C8B-B14F-4D97-AF65-F5344CB8AC3E}">
        <p14:creationId xmlns:p14="http://schemas.microsoft.com/office/powerpoint/2010/main" val="6590434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46B800B-D360-438C-B112-ADF8D546EA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9709ecf448463f"/>
          <a:srcRect xmlns:a="http://schemas.openxmlformats.org/drawingml/2006/main" l="0" t="1684" r="0" b="16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8AFE1-3E3B-4C28-975F-7F69BAE8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2FF1E-4FD9-4619-9177-5D4B442B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714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07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6DEF6-F89E-4F3D-B085-39326A9D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F2E"/>
                </a:solidFill>
              </a:defRPr>
            </a:pPr>
            <a:r>
              <a:rPr sz="900" b="1">
                <a:solidFill>
                  <a:srgbClr val="004F2E"/>
                </a:solidFill>
              </a:rPr>
              <a:t>ON-DEVICE INFERENCE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F80AD-C463-46DB-92BA-0F6FFD6C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BBFD30-02D8-4FD2-B056-B1156F54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971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How The Contract Executes In Swift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1B3B5-B9B8-4170-A00D-F158C069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51435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FCBA7-71CD-4C09-88BB-10DAAD68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952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1BF90-3DAB-4920-ADED-6A2E2AA6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mobile_linear_contract.json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DD47F5-9902-40F0-B1F5-D11A00A1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45339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feature_order: 61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imputer_median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scaler_mean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scaler_scale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coef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intercept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classes = [0, 1]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decision_threshold = 0.5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72038B-1AE0-4EEB-B1D4-3E20A507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24150"/>
            <a:ext cx="516255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41559F-0C20-480A-B181-8D1B1DE2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24150"/>
            <a:ext cx="952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53B55F-6F58-4798-BBB7-59A26797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33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FatigueModel.predict()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8597AE-8766-473E-AC03-D546330B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76600"/>
            <a:ext cx="45339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features = completeFeatures(raw)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for f in feature_order: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x = raw[f] ?? imputer_median[f]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z = (x - mean[f]) / max(scale[f], 1e-12)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logit += z * coef[f]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p1 = 1 / (1 + exp(-logit))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label = p1 &gt;= 0.5 ? 1 : 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BFA362-0AB4-422B-B93F-8150D0BF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66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F2F2F"/>
                </a:solidFill>
              </a:defRPr>
            </a:pPr>
            <a:r>
              <a:rPr sz="900" b="0">
                <a:solidFill>
                  <a:srgbClr val="2F2F2F"/>
                </a:solidFill>
              </a:rPr>
              <a:t>Current runtime: 61 contract features, 33 computed live in app, 28 imputed locally.</a:t>
            </a:r>
          </a:p>
        </p:txBody>
      </p:sp>
    </p:spTree>
    <p:extLst>
      <p:ext uri="{BB962C8B-B14F-4D97-AF65-F5344CB8AC3E}">
        <p14:creationId xmlns:p14="http://schemas.microsoft.com/office/powerpoint/2010/main" val="408082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46B800B-D360-438C-B112-ADF8D546EA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56e3d532c40fa"/>
          <a:srcRect xmlns:a="http://schemas.openxmlformats.org/drawingml/2006/main" l="0" t="1684" r="0" b="16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ABE2D-5A3B-4D1E-B16B-8B226873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4E5D4-7D70-4736-AFFC-39718DE2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714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08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A088F3-9B70-47BF-B194-F0FA3C1E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F2E"/>
                </a:solidFill>
              </a:defRPr>
            </a:pPr>
            <a:r>
              <a:rPr sz="900" b="1">
                <a:solidFill>
                  <a:srgbClr val="004F2E"/>
                </a:solidFill>
              </a:rPr>
              <a:t>HEALTHKIT 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467E16-87D9-4307-BF68-840FDB2B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17F71-DD84-4826-9B06-4EF6EC4D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876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How The iPhone Computes A Prediction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FF51FA-EE44-4E85-9DCD-5AC3F550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2419350" cy="25717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79793-632F-4F21-8A39-44A7D312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0E9FB-0747-4AB3-AE04-6D183157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B280D4-C069-4AB9-ADD0-4ABB8222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480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CF5A7-8FD2-4415-A46F-48CE57B6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1718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678EE4-0596-42AC-9852-53E078F4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051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1BF85A-0ACC-4DF1-8574-86F774B6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527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Authorize + readiness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3CF5A0-402C-4017-96FD-45A10815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19621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Request HealthKit access,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verify read status, and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compute readiness from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available history and sensor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coverage.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DEEE2A-6EAC-4C42-AF3A-3E19BD43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33800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C8D2D2-9254-4C9C-BC25-C31C38E1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766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0F8EEC-AF3A-4ECE-ADF8-9A9D8AB5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43200"/>
            <a:ext cx="2419350" cy="25717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4012F0-A037-41F2-B8EC-B3C3E461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4320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E73AA9-089F-4C44-A0C3-26833618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71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8594AB-32D8-42DC-AEB6-13D4C95C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143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F35C62-B0CC-4B28-830C-EC78775B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228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552227-4A43-419A-97D0-F55CA927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099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9AE01D-73E4-489C-8D84-0878A2AB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527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Fetch latest sleep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A12F5F-2935-4024-9D42-35B4C48C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62350"/>
            <a:ext cx="19621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Query sleep samples, apply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the minus 6 hour night key,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and prefer Apple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Watch-origin sleep data when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present.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3CBF06-58E3-4759-864A-12D434AD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33800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36F4E4-DA45-46F1-A4B4-8A448FEB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766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7315DA-0B7B-437F-BDC8-81CD53EF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43200"/>
            <a:ext cx="2419350" cy="25717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EC261D-131A-44AD-94A6-59A2D91E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4320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94BBCD-057B-41C4-B36D-E9C51F1F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71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6339BD-9761-4C85-B99D-2011DF95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1146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633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8E316D-C7B0-4EAB-BAB0-5C9C7D73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004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C33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80B512-06B1-4BDF-971E-40487024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2861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38700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B1EBE1-0A7D-446F-B568-F8E21991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527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Enrich with metrics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7B181E-85E3-4703-826B-AB9E341D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19621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Compute sleep-stage totals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plus HR, HRV, Resp, SpO2,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steps, active energy, and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exercise-time signals.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672EC6-9E5A-4439-B383-85A5E0FA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33800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F97D27-BA50-4975-A47A-B41644F8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766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2B36B7-37BC-4C51-A188-F8BFC218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43200"/>
            <a:ext cx="2419350" cy="25717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A797B6-C2B4-43AD-A7BE-C56B907A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4320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BA9504-881F-4FE5-8BB8-0CEAEE8A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71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A0B575-D80C-491F-87E8-D7CC7A63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480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3F6B68-4A40-4712-9E7A-746EA15A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1718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23D005-3FFD-4A4D-A853-5E071644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051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41CE71-EBB1-4BFA-8372-C949E26C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527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Predict + refresh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18B6818-B0B2-4EA5-A788-EBB67FCD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62350"/>
            <a:ext cx="19621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Return a [String: Double]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payload to the model, run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local inference, and support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refresh through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HKObserverQuery.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A6389C-617D-4018-ADCB-B0FE9C6F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971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F2F2F"/>
                </a:solidFill>
              </a:defRPr>
            </a:pPr>
            <a:r>
              <a:rPr sz="900" b="0">
                <a:solidFill>
                  <a:srgbClr val="2F2F2F"/>
                </a:solidFill>
              </a:rPr>
              <a:t>Simulator can test UI and demo mode, but real HealthKit fetch requires a physical iPhone.</a:t>
            </a:r>
          </a:p>
        </p:txBody>
      </p:sp>
    </p:spTree>
    <p:extLst>
      <p:ext uri="{BB962C8B-B14F-4D97-AF65-F5344CB8AC3E}">
        <p14:creationId xmlns:p14="http://schemas.microsoft.com/office/powerpoint/2010/main" val="3645200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46B800B-D360-438C-B112-ADF8D546EA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63518513241ae"/>
          <a:srcRect xmlns:a="http://schemas.openxmlformats.org/drawingml/2006/main" l="0" t="1684" r="0" b="16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74042-FCCD-49A1-B9C5-E7B19F88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BB8CC-5D51-4EA4-9B91-BBAF30B4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714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09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5CA1E-724B-4C53-B8B6-D6DD564E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F2E"/>
                </a:solidFill>
              </a:defRPr>
            </a:pPr>
            <a:r>
              <a:rPr sz="900" b="1">
                <a:solidFill>
                  <a:srgbClr val="004F2E"/>
                </a:solidFill>
              </a:rPr>
              <a:t>MOBILE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F3137-ADAE-421C-9FB0-67448DD9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53601-C42C-44E9-AF30-3F9AE983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8858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How Results Are Shown To The User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620E2-B61F-417A-9265-F43A22B7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428875" cy="257175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56902B-F206-4D8E-B857-C09D9DE8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20859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C403A2-8F76-4DCD-959A-D78637A4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B8459-90A5-4046-99BC-5523F4B9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93370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9169B-3DB7-4F50-844D-208F2EB6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Connect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1FA731-EFC3-4C76-92C7-CD981664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1971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Request Health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DB5288-5443-4652-B1AF-23071281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1971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2F2F"/>
                </a:solidFill>
              </a:defRPr>
            </a:pPr>
            <a:r>
              <a:rPr sz="1050" b="0">
                <a:solidFill>
                  <a:srgbClr val="2F2F2F"/>
                </a:solidFill>
              </a:rPr>
              <a:t>Readiness appears before</a:t>
            </a:r>
          </a:p>
          <a:p xmlns:a="http://schemas.openxmlformats.org/drawingml/2006/main">
            <a:pPr algn="l">
              <a:defRPr sz="1050" b="0">
                <a:solidFill>
                  <a:srgbClr val="2F2F2F"/>
                </a:solidFill>
              </a:defRPr>
            </a:pPr>
            <a:r>
              <a:rPr sz="1050" b="0">
                <a:solidFill>
                  <a:srgbClr val="2F2F2F"/>
                </a:solidFill>
              </a:rPr>
              <a:t>any risk score.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2317D9-E2B6-476E-B51B-88997887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686050"/>
            <a:ext cx="2428875" cy="257175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26325A-D281-492D-8109-6A74EB83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19400"/>
            <a:ext cx="20859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E9A011-BA5E-4C2E-9890-C8666203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895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E9B49D-710D-4104-88D6-7EBB1576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3370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5D0A93-1370-4979-B05F-E86128D0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2194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Fetch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1D5B40-304D-43F5-B036-1509EE75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562350"/>
            <a:ext cx="1971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Fetch Latest Night /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Fetch + Predict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C85494-56F0-44D4-8FF6-705F3CBF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533900"/>
            <a:ext cx="1971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2F2F"/>
                </a:solidFill>
              </a:defRPr>
            </a:pPr>
            <a:r>
              <a:rPr sz="1050" b="0">
                <a:solidFill>
                  <a:srgbClr val="2F2F2F"/>
                </a:solidFill>
              </a:rPr>
              <a:t>Large CTAs make the live</a:t>
            </a:r>
          </a:p>
          <a:p xmlns:a="http://schemas.openxmlformats.org/drawingml/2006/main">
            <a:pPr algn="l">
              <a:defRPr sz="1050" b="0">
                <a:solidFill>
                  <a:srgbClr val="2F2F2F"/>
                </a:solidFill>
              </a:defRPr>
            </a:pPr>
            <a:r>
              <a:rPr sz="1050" b="0">
                <a:solidFill>
                  <a:srgbClr val="2F2F2F"/>
                </a:solidFill>
              </a:rPr>
              <a:t>demo path explicit.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0351F5-2603-4E67-B0DF-5E5CCFA9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686050"/>
            <a:ext cx="2428875" cy="257175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40BEA1-9072-4640-8BEE-80F6D998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19400"/>
            <a:ext cx="20859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A2C6C9-635A-4507-8BF9-82A0D932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95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5481FF-D347-4829-A90D-DF7D693F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93370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619615-D0A0-4D05-A665-F561B019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194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Result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6176FF-0BD1-40E4-BFB2-68A8B6F0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62350"/>
            <a:ext cx="1971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Confidence,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threshold,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missing-feature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count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8EA485-0DEF-4AA6-8E69-12DE5C4A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33900"/>
            <a:ext cx="1971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2F2F"/>
                </a:solidFill>
              </a:defRPr>
            </a:pPr>
            <a:r>
              <a:rPr sz="1050" b="0">
                <a:solidFill>
                  <a:srgbClr val="2F2F2F"/>
                </a:solidFill>
              </a:rPr>
              <a:t>UI shows local runtime</a:t>
            </a:r>
          </a:p>
          <a:p xmlns:a="http://schemas.openxmlformats.org/drawingml/2006/main">
            <a:pPr algn="l">
              <a:defRPr sz="1050" b="0">
                <a:solidFill>
                  <a:srgbClr val="2F2F2F"/>
                </a:solidFill>
              </a:defRPr>
            </a:pPr>
            <a:r>
              <a:rPr sz="1050" b="0">
                <a:solidFill>
                  <a:srgbClr val="2F2F2F"/>
                </a:solidFill>
              </a:rPr>
              <a:t>and imputation.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328558-A8CB-4D56-9CC4-00BB90B6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86050"/>
            <a:ext cx="2428875" cy="257175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A5528D-23CE-4F88-9CAB-100D1210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19400"/>
            <a:ext cx="20859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955F2E-3909-48D3-8831-EFC2B2B1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895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9F1820-05C6-49D6-B736-60936C6E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3370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1ED039-C873-46A6-A366-4BDA9014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2194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4F2E"/>
                </a:solidFill>
              </a:defRPr>
            </a:pPr>
            <a:r>
              <a:rPr sz="1125" b="1">
                <a:solidFill>
                  <a:srgbClr val="004F2E"/>
                </a:solidFill>
              </a:rPr>
              <a:t>Trend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E2CBB0-BA58-49DD-8F06-26A5FB8A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562350"/>
            <a:ext cx="1971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Open 7-night history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202551-2576-46DB-9A2D-2DC48E98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533900"/>
            <a:ext cx="1971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2F2F"/>
                </a:solidFill>
              </a:defRPr>
            </a:pPr>
            <a:r>
              <a:rPr sz="1050" b="0">
                <a:solidFill>
                  <a:srgbClr val="2F2F2F"/>
                </a:solidFill>
              </a:rPr>
              <a:t>History adds context</a:t>
            </a:r>
          </a:p>
          <a:p xmlns:a="http://schemas.openxmlformats.org/drawingml/2006/main">
            <a:pPr algn="l">
              <a:defRPr sz="1050" b="0">
                <a:solidFill>
                  <a:srgbClr val="2F2F2F"/>
                </a:solidFill>
              </a:defRPr>
            </a:pPr>
            <a:r>
              <a:rPr sz="1050" b="0">
                <a:solidFill>
                  <a:srgbClr val="2F2F2F"/>
                </a:solidFill>
              </a:rPr>
              <a:t>beyond one label.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6B3C34-1576-41E1-8AF5-70229C1D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10572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233424-E3D5-4991-BC77-B8ECE89F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531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F2E"/>
                </a:solidFill>
              </a:defRPr>
            </a:pPr>
            <a:r>
              <a:rPr sz="900" b="1">
                <a:solidFill>
                  <a:srgbClr val="004F2E"/>
                </a:solidFill>
              </a:rPr>
              <a:t>Readiness before risk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478747-608C-43D6-AC9C-6FF0464B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7531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F2E"/>
                </a:solidFill>
              </a:defRPr>
            </a:pPr>
            <a:r>
              <a:rPr sz="900" b="1">
                <a:solidFill>
                  <a:srgbClr val="004F2E"/>
                </a:solidFill>
              </a:rPr>
              <a:t>Explicit privacy messaging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7269BC-A809-4D02-8C20-543DDDC8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7531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F2E"/>
                </a:solidFill>
              </a:defRPr>
            </a:pPr>
            <a:r>
              <a:rPr sz="900" b="1">
                <a:solidFill>
                  <a:srgbClr val="004F2E"/>
                </a:solidFill>
              </a:rPr>
              <a:t>Transparent imputation and latency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A568B0-121F-492E-B75A-E7A593D9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7531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F2E"/>
                </a:solidFill>
              </a:defRPr>
            </a:pPr>
            <a:r>
              <a:rPr sz="900" b="1">
                <a:solidFill>
                  <a:srgbClr val="004F2E"/>
                </a:solidFill>
              </a:rPr>
              <a:t>Trend context over one score</a:t>
            </a:r>
          </a:p>
        </p:txBody>
      </p:sp>
    </p:spTree>
    <p:extLst>
      <p:ext uri="{BB962C8B-B14F-4D97-AF65-F5344CB8AC3E}">
        <p14:creationId xmlns:p14="http://schemas.microsoft.com/office/powerpoint/2010/main" val="14778978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46B800B-D360-438C-B112-ADF8D546EA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76d801bff45e5"/>
          <a:srcRect xmlns:a="http://schemas.openxmlformats.org/drawingml/2006/main" l="0" t="1684" r="0" b="16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16C3BB-8640-4CBC-A61C-BF2B824D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23A33-67C3-4FF8-9314-9682E74B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714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10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96B76-D30C-408A-8636-7CC6B65D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F2E"/>
                </a:solidFill>
              </a:defRPr>
            </a:pPr>
            <a:r>
              <a:rPr sz="900" b="1">
                <a:solidFill>
                  <a:srgbClr val="004F2E"/>
                </a:solidFill>
              </a:rPr>
              <a:t>RESULTS / LIMITS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4FC0C-E273-41F9-8973-783DA4E6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5F331-815D-4D16-A963-C47F7A39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8858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What Worked, What Stayed Weak, What We Learned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2F8ED-8015-46AA-9751-750BA495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5143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0E631-BF3D-4D6F-AC20-E2A9EFCB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95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545112-572E-45E5-BE71-30DFC2BB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F2E"/>
                </a:solidFill>
              </a:defRPr>
            </a:pPr>
            <a:r>
              <a:rPr sz="1200" b="1">
                <a:solidFill>
                  <a:srgbClr val="004F2E"/>
                </a:solidFill>
              </a:rPr>
              <a:t>Model quality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9421C9-BCE5-447F-9679-B8AF0638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12573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E87F26-3864-4257-B196-63A8B60C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1257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8739CE-73BD-4C7E-A4C5-4242766E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990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0.4906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A5CBAA-237D-4310-B5F9-EFC1731A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F2F2F"/>
                </a:solidFill>
              </a:defRPr>
            </a:pPr>
            <a:r>
              <a:rPr sz="750" b="1">
                <a:solidFill>
                  <a:srgbClr val="2F2F2F"/>
                </a:solidFill>
              </a:rPr>
              <a:t>Weighted F1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6DCE4E-BDA1-4ACC-8453-FF34A925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05150"/>
            <a:ext cx="12573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19D908-F3B5-491D-8186-BA32B4C3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05150"/>
            <a:ext cx="1257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206F56-4A00-4AF6-A873-D86C223A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333750"/>
            <a:ext cx="990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0.4907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B68932-5E74-43D4-B928-2629FA3A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4335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F2F2F"/>
                </a:solidFill>
              </a:defRPr>
            </a:pPr>
            <a:r>
              <a:rPr sz="750" b="1">
                <a:solidFill>
                  <a:srgbClr val="2F2F2F"/>
                </a:solidFill>
              </a:rPr>
              <a:t>Accuracy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45BEFC-6D83-4AFC-9A3F-6416A22C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05150"/>
            <a:ext cx="12573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8A599F-2E43-462C-BD9B-935525A2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05150"/>
            <a:ext cx="1257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8B8F1E-5ECF-43E2-B0E6-B54E3918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33750"/>
            <a:ext cx="990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359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9FED64-BC80-4C82-9E2E-69283B11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4335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F2F2F"/>
                </a:solidFill>
              </a:defRPr>
            </a:pPr>
            <a:r>
              <a:rPr sz="750" b="1">
                <a:solidFill>
                  <a:srgbClr val="2F2F2F"/>
                </a:solidFill>
              </a:rPr>
              <a:t>Labeled nights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276C5E-4A80-4D57-ABA3-6A211EAE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4476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2F2F"/>
                </a:solidFill>
              </a:defRPr>
            </a:pPr>
            <a:r>
              <a:rPr sz="1125" b="0">
                <a:solidFill>
                  <a:srgbClr val="2F2F2F"/>
                </a:solidFill>
              </a:rPr>
              <a:t>Performance is modest because the dataset is small,</a:t>
            </a:r>
          </a:p>
          <a:p xmlns:a="http://schemas.openxmlformats.org/drawingml/2006/main">
            <a:pPr algn="l">
              <a:defRPr sz="1125" b="0">
                <a:solidFill>
                  <a:srgbClr val="2F2F2F"/>
                </a:solidFill>
              </a:defRPr>
            </a:pPr>
            <a:r>
              <a:rPr sz="1125" b="0">
                <a:solidFill>
                  <a:srgbClr val="2F2F2F"/>
                </a:solidFill>
              </a:rPr>
              <a:t>labels are subjective, and many fatigue drivers are</a:t>
            </a:r>
          </a:p>
          <a:p xmlns:a="http://schemas.openxmlformats.org/drawingml/2006/main">
            <a:pPr algn="l">
              <a:defRPr sz="1125" b="0">
                <a:solidFill>
                  <a:srgbClr val="2F2F2F"/>
                </a:solidFill>
              </a:defRPr>
            </a:pPr>
            <a:r>
              <a:rPr sz="1125" b="0">
                <a:solidFill>
                  <a:srgbClr val="2F2F2F"/>
                </a:solidFill>
              </a:rPr>
              <a:t>cumulative rather than fully visible in one night.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A0ED94-AE69-4B75-AF4E-A82067EB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5143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10C3B5-5CCE-46AF-8A5A-D893685C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95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05E183-E82E-4DBC-9CCB-DFBF9D07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622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F2E"/>
                </a:solidFill>
              </a:defRPr>
            </a:pPr>
            <a:r>
              <a:rPr sz="1200" b="1">
                <a:solidFill>
                  <a:srgbClr val="004F2E"/>
                </a:solidFill>
              </a:rPr>
              <a:t>System quality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732762-EF7B-4E09-BB9C-BABE49D7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5150"/>
            <a:ext cx="12573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9D1AC5-B380-4DA0-BFD5-B97E6794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5150"/>
            <a:ext cx="1257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989ADA-04EF-4B50-90EB-1765A77D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990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10.55 KB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095712-9947-4E1D-8B94-70E047AA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4335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F2F2F"/>
                </a:solidFill>
              </a:defRPr>
            </a:pPr>
            <a:r>
              <a:rPr sz="750" b="1">
                <a:solidFill>
                  <a:srgbClr val="2F2F2F"/>
                </a:solidFill>
              </a:rPr>
              <a:t>Artifact size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5ADFCB-3DDE-4985-971E-3239E33D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05150"/>
            <a:ext cx="12573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98EADB-CEA0-4541-A028-D845DCBD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05150"/>
            <a:ext cx="1257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892F74-9E01-4350-BB8E-EF47C09F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33750"/>
            <a:ext cx="990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5.62 ms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BD36E2-D241-459D-88B0-6421B464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4335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F2F2F"/>
                </a:solidFill>
              </a:defRPr>
            </a:pPr>
            <a:r>
              <a:rPr sz="750" b="1">
                <a:solidFill>
                  <a:srgbClr val="2F2F2F"/>
                </a:solidFill>
              </a:rPr>
              <a:t>p95 single prediction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54894D-0149-4CCD-A057-82BDDFE4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05150"/>
            <a:ext cx="12573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1F37AD-1BC7-49B4-B0F5-2B3D2929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05150"/>
            <a:ext cx="1257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2BC476-4E6A-492E-81D5-EFC64D35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33750"/>
            <a:ext cx="990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61 / 33 / 28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0A1AA6-98A0-4515-B197-4D9DDC3B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4335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F2F2F"/>
                </a:solidFill>
              </a:defRPr>
            </a:pPr>
            <a:r>
              <a:rPr sz="750" b="1">
                <a:solidFill>
                  <a:srgbClr val="2F2F2F"/>
                </a:solidFill>
              </a:rPr>
              <a:t>Contract / live / imputed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D941E8-3D2F-4D32-B08C-AE91A9C9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86250"/>
            <a:ext cx="4476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2F2F"/>
                </a:solidFill>
              </a:defRPr>
            </a:pPr>
            <a:r>
              <a:rPr sz="1125" b="0">
                <a:solidFill>
                  <a:srgbClr val="2F2F2F"/>
                </a:solidFill>
              </a:rPr>
              <a:t>The system result is stronger than the raw ML score:</a:t>
            </a:r>
          </a:p>
          <a:p xmlns:a="http://schemas.openxmlformats.org/drawingml/2006/main">
            <a:pPr algn="l">
              <a:defRPr sz="1125" b="0">
                <a:solidFill>
                  <a:srgbClr val="2F2F2F"/>
                </a:solidFill>
              </a:defRPr>
            </a:pPr>
            <a:r>
              <a:rPr sz="1125" b="0">
                <a:solidFill>
                  <a:srgbClr val="2F2F2F"/>
                </a:solidFill>
              </a:rPr>
              <a:t>HealthKit fetch, Swift feature computation, local</a:t>
            </a:r>
          </a:p>
          <a:p xmlns:a="http://schemas.openxmlformats.org/drawingml/2006/main">
            <a:pPr algn="l">
              <a:defRPr sz="1125" b="0">
                <a:solidFill>
                  <a:srgbClr val="2F2F2F"/>
                </a:solidFill>
              </a:defRPr>
            </a:pPr>
            <a:r>
              <a:rPr sz="1125" b="0">
                <a:solidFill>
                  <a:srgbClr val="2F2F2F"/>
                </a:solidFill>
              </a:rPr>
              <a:t>inference, readiness, and history UI all work in a</a:t>
            </a:r>
          </a:p>
          <a:p xmlns:a="http://schemas.openxmlformats.org/drawingml/2006/main">
            <a:pPr algn="l">
              <a:defRPr sz="1125" b="0">
                <a:solidFill>
                  <a:srgbClr val="2F2F2F"/>
                </a:solidFill>
              </a:defRPr>
            </a:pPr>
            <a:r>
              <a:rPr sz="1125" b="0">
                <a:solidFill>
                  <a:srgbClr val="2F2F2F"/>
                </a:solidFill>
              </a:rPr>
              <a:t>native path.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1057B3-664F-4757-AB2B-D8563C31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3352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12DDAB-CA50-4269-BF47-8A1E7CEF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F2E"/>
                </a:solidFill>
              </a:defRPr>
            </a:pPr>
            <a:r>
              <a:rPr sz="900" b="1">
                <a:solidFill>
                  <a:srgbClr val="004F2E"/>
                </a:solidFill>
              </a:rPr>
              <a:t>Cumulative context mattered more</a:t>
            </a:r>
          </a:p>
          <a:p xmlns:a="http://schemas.openxmlformats.org/drawingml/2006/main">
            <a:pPr algn="l">
              <a:defRPr sz="900" b="1">
                <a:solidFill>
                  <a:srgbClr val="004F2E"/>
                </a:solidFill>
              </a:defRPr>
            </a:pPr>
            <a:r>
              <a:rPr sz="900" b="1">
                <a:solidFill>
                  <a:srgbClr val="004F2E"/>
                </a:solidFill>
              </a:rPr>
              <a:t>than isolated one-night features.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38592E-45BA-423B-98CF-2BE51B2A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81650"/>
            <a:ext cx="3352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D66890-FBC1-4E7A-9CFD-8C2524CD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7150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F2E"/>
                </a:solidFill>
              </a:defRPr>
            </a:pPr>
            <a:r>
              <a:rPr sz="900" b="1">
                <a:solidFill>
                  <a:srgbClr val="004F2E"/>
                </a:solidFill>
              </a:rPr>
              <a:t>Missing and history-dependent</a:t>
            </a:r>
          </a:p>
          <a:p xmlns:a="http://schemas.openxmlformats.org/drawingml/2006/main">
            <a:pPr algn="l">
              <a:defRPr sz="900" b="1">
                <a:solidFill>
                  <a:srgbClr val="004F2E"/>
                </a:solidFill>
              </a:defRPr>
            </a:pPr>
            <a:r>
              <a:rPr sz="900" b="1">
                <a:solidFill>
                  <a:srgbClr val="004F2E"/>
                </a:solidFill>
              </a:rPr>
              <a:t>features are the main mobile</a:t>
            </a:r>
          </a:p>
          <a:p xmlns:a="http://schemas.openxmlformats.org/drawingml/2006/main">
            <a:pPr algn="l">
              <a:defRPr sz="900" b="1">
                <a:solidFill>
                  <a:srgbClr val="004F2E"/>
                </a:solidFill>
              </a:defRPr>
            </a:pPr>
            <a:r>
              <a:rPr sz="900" b="1">
                <a:solidFill>
                  <a:srgbClr val="004F2E"/>
                </a:solidFill>
              </a:rPr>
              <a:t>parity gap.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D3C480-1298-4922-8328-1C0A5DB9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81650"/>
            <a:ext cx="3352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8370A3-F976-43BC-BDEB-013A79F2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7150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F2E"/>
                </a:solidFill>
              </a:defRPr>
            </a:pPr>
            <a:r>
              <a:rPr sz="900" b="1">
                <a:solidFill>
                  <a:srgbClr val="004F2E"/>
                </a:solidFill>
              </a:rPr>
              <a:t>The strongest contribution is</a:t>
            </a:r>
          </a:p>
          <a:p xmlns:a="http://schemas.openxmlformats.org/drawingml/2006/main">
            <a:pPr algn="l">
              <a:defRPr sz="900" b="1">
                <a:solidFill>
                  <a:srgbClr val="004F2E"/>
                </a:solidFill>
              </a:defRPr>
            </a:pPr>
            <a:r>
              <a:rPr sz="900" b="1">
                <a:solidFill>
                  <a:srgbClr val="004F2E"/>
                </a:solidFill>
              </a:rPr>
              <a:t>deployment realism, not benchmark</a:t>
            </a:r>
          </a:p>
          <a:p xmlns:a="http://schemas.openxmlformats.org/drawingml/2006/main">
            <a:pPr algn="l">
              <a:defRPr sz="900" b="1">
                <a:solidFill>
                  <a:srgbClr val="004F2E"/>
                </a:solidFill>
              </a:defRPr>
            </a:pPr>
            <a:r>
              <a:rPr sz="900" b="1">
                <a:solidFill>
                  <a:srgbClr val="004F2E"/>
                </a:solidFill>
              </a:rPr>
              <a:t>leadership.</a:t>
            </a:r>
          </a:p>
        </p:txBody>
      </p:sp>
    </p:spTree>
    <p:extLst>
      <p:ext uri="{BB962C8B-B14F-4D97-AF65-F5344CB8AC3E}">
        <p14:creationId xmlns:p14="http://schemas.microsoft.com/office/powerpoint/2010/main" val="9664583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2026-04-23T01:59:09.2050000Z</dcterms:created>
  <dcterms:modified xsi:type="dcterms:W3CDTF">2026-04-23T01:59:09.2050000Z</dcterms:modified>
</coreProperties>
</file>